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3" r:id="rId7"/>
    <p:sldId id="261" r:id="rId8"/>
    <p:sldId id="262"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Μέρος 6" id="{B5C86776-8ED8-4BA2-1AE5-D8B2DF9B9C58}">
          <p14:sldIdLst>
            <p14:sldId id="256"/>
            <p14:sldId id="257"/>
            <p14:sldId id="258"/>
            <p14:sldId id="259"/>
            <p14:sldId id="260"/>
            <p14:sldId id="263"/>
            <p14:sldId id="261"/>
            <p14:sldId id="262"/>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678" autoAdjust="0"/>
  </p:normalViewPr>
  <p:slideViewPr>
    <p:cSldViewPr snapToGrid="0" snapToObjects="1">
      <p:cViewPr varScale="1">
        <p:scale>
          <a:sx n="86" d="100"/>
          <a:sy n="86" d="100"/>
        </p:scale>
        <p:origin x="93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50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Πες τη φράση-κλειδί: «Βγάζουμε το project από το laptop στον κόσμο, δωρεάν, χωρίς να βγει μαζί και το μυστικό μας κλειδί.» Τρία βήματα: ετοιμάζουμε, ελέγχουμε, ανεβάζουμε. Χρόνος: 15 λεπτά. Αν πιέζει ο χρόνος, κόβεται πρώτα το agy -p.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Τρία γιατί. 1) CV: ο εργοδότης ανοίγει ένα link και βλέπει το project να δουλεύει. 2) Δεν κάνουμε deploy σε cloud, γιατί όλες οι υπηρεσίες θέλουν κάρτα· ένα public repo με README και GIF είναι ο τρόπος που δείχνουν τη δουλειά τους οι developers. 3) Όποιος δει το repo το τρέχει με το δικό του δωρεάν κλειδί ή χωρίς internet με Gemma.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Το </a:t>
            </a:r>
            <a:r>
              <a:rPr lang="el-GR" b="1" dirty="0" err="1"/>
              <a:t>Git</a:t>
            </a:r>
            <a:r>
              <a:rPr lang="el-GR" dirty="0"/>
              <a:t> κρατάει το ιστορικό του </a:t>
            </a:r>
            <a:r>
              <a:rPr lang="el-GR" dirty="0" err="1"/>
              <a:t>project</a:t>
            </a:r>
            <a:r>
              <a:rPr lang="el-GR" dirty="0"/>
              <a:t>, σαν το </a:t>
            </a:r>
            <a:r>
              <a:rPr lang="el-GR" dirty="0" err="1"/>
              <a:t>Track</a:t>
            </a:r>
            <a:r>
              <a:rPr lang="el-GR" dirty="0"/>
              <a:t> </a:t>
            </a:r>
            <a:r>
              <a:rPr lang="el-GR" dirty="0" err="1"/>
              <a:t>Changes</a:t>
            </a:r>
            <a:r>
              <a:rPr lang="el-GR" dirty="0"/>
              <a:t> του Word: μπορείς να γυρίσεις σε παλιά έκδοση. Το </a:t>
            </a:r>
            <a:r>
              <a:rPr lang="el-GR" b="1" dirty="0" err="1"/>
              <a:t>GitHub</a:t>
            </a:r>
            <a:r>
              <a:rPr lang="el-GR" dirty="0"/>
              <a:t> είναι μια ιστοσελίδα που αποθηκεύει αυτά τα </a:t>
            </a:r>
            <a:r>
              <a:rPr lang="el-GR" dirty="0" err="1"/>
              <a:t>projects</a:t>
            </a:r>
            <a:r>
              <a:rPr lang="el-GR" dirty="0"/>
              <a:t> </a:t>
            </a:r>
            <a:r>
              <a:rPr lang="el-GR" dirty="0" err="1"/>
              <a:t>online</a:t>
            </a:r>
            <a:r>
              <a:rPr lang="el-GR" dirty="0"/>
              <a:t>. Σκεφτείτε το σαν </a:t>
            </a:r>
            <a:r>
              <a:rPr lang="el-GR" dirty="0" err="1"/>
              <a:t>Google</a:t>
            </a:r>
            <a:r>
              <a:rPr lang="el-GR" dirty="0"/>
              <a:t> </a:t>
            </a:r>
            <a:r>
              <a:rPr lang="el-GR" dirty="0" err="1"/>
              <a:t>Drive</a:t>
            </a:r>
            <a:r>
              <a:rPr lang="el-GR" dirty="0"/>
              <a:t> για κώδικα, αλλά με βιτρίνα.</a:t>
            </a:r>
          </a:p>
          <a:p>
            <a:r>
              <a:rPr lang="el-GR" dirty="0"/>
              <a:t>Το </a:t>
            </a:r>
            <a:r>
              <a:rPr lang="el-GR" b="1" dirty="0" err="1"/>
              <a:t>repo</a:t>
            </a:r>
            <a:r>
              <a:rPr lang="el-GR" dirty="0"/>
              <a:t> είναι ένας φάκελος </a:t>
            </a:r>
            <a:r>
              <a:rPr lang="el-GR" dirty="0" err="1"/>
              <a:t>project</a:t>
            </a:r>
            <a:r>
              <a:rPr lang="el-GR" dirty="0"/>
              <a:t> που τον κρατάει το </a:t>
            </a:r>
            <a:r>
              <a:rPr lang="el-GR" dirty="0" err="1"/>
              <a:t>Git</a:t>
            </a:r>
            <a:r>
              <a:rPr lang="el-GR" dirty="0"/>
              <a:t>. Το </a:t>
            </a:r>
            <a:r>
              <a:rPr lang="el-GR" b="1" dirty="0"/>
              <a:t>README</a:t>
            </a:r>
            <a:r>
              <a:rPr lang="el-GR" dirty="0"/>
              <a:t> είναι η πρώτη σελίδα του: τι κάνει και πώς το τρέχεις. Το </a:t>
            </a:r>
            <a:r>
              <a:rPr lang="el-GR" b="1" dirty="0"/>
              <a:t>GIF</a:t>
            </a:r>
            <a:r>
              <a:rPr lang="el-GR" dirty="0"/>
              <a:t> είναι ένα μικρό βίντεο που δείχνει το </a:t>
            </a:r>
            <a:r>
              <a:rPr lang="el-GR" dirty="0" err="1"/>
              <a:t>app</a:t>
            </a:r>
            <a:r>
              <a:rPr lang="el-GR" dirty="0"/>
              <a:t> να δουλεύει.</a:t>
            </a:r>
          </a:p>
          <a:p>
            <a:r>
              <a:rPr lang="el-GR" dirty="0"/>
              <a:t>Και δύο ρήματα. </a:t>
            </a:r>
            <a:r>
              <a:rPr lang="el-GR" b="1" dirty="0" err="1"/>
              <a:t>Push</a:t>
            </a:r>
            <a:r>
              <a:rPr lang="el-GR" dirty="0"/>
              <a:t> σημαίνει "ανεβάζω από το laptop στο </a:t>
            </a:r>
            <a:r>
              <a:rPr lang="el-GR" dirty="0" err="1"/>
              <a:t>GitHub</a:t>
            </a:r>
            <a:r>
              <a:rPr lang="el-GR" dirty="0"/>
              <a:t>". Το </a:t>
            </a:r>
            <a:r>
              <a:rPr lang="el-GR" b="1" dirty="0" err="1"/>
              <a:t>origin</a:t>
            </a:r>
            <a:r>
              <a:rPr lang="el-GR" dirty="0"/>
              <a:t> είναι η διεύθυνση του </a:t>
            </a:r>
            <a:r>
              <a:rPr lang="el-GR" dirty="0" err="1"/>
              <a:t>GitHub</a:t>
            </a:r>
            <a:r>
              <a:rPr lang="el-GR" dirty="0"/>
              <a:t> στην οποία ανεβάζουμε.</a:t>
            </a:r>
          </a:p>
          <a:p>
            <a:r>
              <a:rPr lang="el-GR" dirty="0"/>
              <a:t>Κρατήστε μία ιδιότητα του </a:t>
            </a:r>
            <a:r>
              <a:rPr lang="el-GR" dirty="0" err="1"/>
              <a:t>Git</a:t>
            </a:r>
            <a:r>
              <a:rPr lang="el-GR" dirty="0"/>
              <a:t>: </a:t>
            </a:r>
            <a:r>
              <a:rPr lang="el-GR" b="1" dirty="0"/>
              <a:t>θυμάται τα πάντα</a:t>
            </a:r>
            <a:r>
              <a:rPr lang="el-GR" dirty="0"/>
              <a:t>. Θα μας χρειαστεί σε λίγο.»</a:t>
            </a:r>
          </a:p>
          <a:p>
            <a:endParaRPr lang="en-US" dirty="0"/>
          </a:p>
          <a:p>
            <a:br>
              <a:rPr lang="el-GR" dirty="0"/>
            </a:br>
            <a:r>
              <a:rPr lang="el-GR" b="1" dirty="0"/>
              <a:t>Διαφάνεια 3 · Οι λέξεις (1:30)</a:t>
            </a:r>
          </a:p>
          <a:p>
            <a:r>
              <a:rPr lang="el-GR" i="1" dirty="0"/>
              <a:t>[Δείξε τη λίστα. Μην τη διαβάσεις ολόκληρη, πες τις αναλογίες]</a:t>
            </a:r>
            <a:endParaRPr lang="el-GR" dirty="0"/>
          </a:p>
          <a:p>
            <a:r>
              <a:rPr lang="el-GR" dirty="0"/>
              <a:t>«Πριν ξεκινήσουμε, επτά λέξεις, γιατί αν δεν τις ξέρουμε όλα ακούγονται δύσκολα.</a:t>
            </a:r>
          </a:p>
          <a:p>
            <a:endParaRPr lang="en-US" dirty="0"/>
          </a:p>
          <a:p>
            <a:endParaRPr lang="en-US" dirty="0"/>
          </a:p>
          <a:p>
            <a:r>
              <a:rPr lang="en-US" dirty="0"/>
              <a:t>Git = ιστορικό αλλαγών. GitHub = Google Drive για κώδικα με βιτρίνα. Repo = φάκελος project. Origin = η διεύθυνση του GitHub στην οποία ανεβάζει το laptop. Το Git θυμάται τα πάντα, και αυτό θα μας χρειαστεί στο θέμα του κλειδιού.</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b="1" dirty="0"/>
              <a:t>Διαφάνεια 4 · </a:t>
            </a:r>
            <a:r>
              <a:rPr lang="el-GR" sz="1200" b="1" kern="1200" dirty="0">
                <a:solidFill>
                  <a:schemeClr val="tx1"/>
                </a:solidFill>
                <a:latin typeface="+mn-lt"/>
                <a:ea typeface="+mn-ea"/>
                <a:cs typeface="+mn-cs"/>
              </a:rPr>
              <a:t>.</a:t>
            </a:r>
            <a:r>
              <a:rPr lang="el-GR" sz="1200" b="1" kern="1200" dirty="0" err="1">
                <a:solidFill>
                  <a:schemeClr val="tx1"/>
                </a:solidFill>
                <a:latin typeface="+mn-lt"/>
                <a:ea typeface="+mn-ea"/>
                <a:cs typeface="+mn-cs"/>
              </a:rPr>
              <a:t>env</a:t>
            </a:r>
            <a:r>
              <a:rPr lang="el-GR" b="1" dirty="0"/>
              <a:t> και </a:t>
            </a:r>
            <a:r>
              <a:rPr lang="el-GR" sz="1200" b="1" kern="1200" dirty="0">
                <a:solidFill>
                  <a:schemeClr val="tx1"/>
                </a:solidFill>
                <a:latin typeface="+mn-lt"/>
                <a:ea typeface="+mn-ea"/>
                <a:cs typeface="+mn-cs"/>
              </a:rPr>
              <a:t>.</a:t>
            </a:r>
            <a:r>
              <a:rPr lang="el-GR" sz="1200" b="1" kern="1200" dirty="0" err="1">
                <a:solidFill>
                  <a:schemeClr val="tx1"/>
                </a:solidFill>
                <a:latin typeface="+mn-lt"/>
                <a:ea typeface="+mn-ea"/>
                <a:cs typeface="+mn-cs"/>
              </a:rPr>
              <a:t>venv</a:t>
            </a:r>
            <a:r>
              <a:rPr lang="el-GR" b="1" dirty="0"/>
              <a:t> (1:30)</a:t>
            </a:r>
          </a:p>
          <a:p>
            <a:r>
              <a:rPr lang="el-GR" dirty="0"/>
              <a:t>«Δύο πράγματα που έχετε ήδη φτιάξει μένουν </a:t>
            </a:r>
            <a:r>
              <a:rPr lang="el-GR" b="1" dirty="0"/>
              <a:t>μόνο στο laptop σας</a:t>
            </a:r>
            <a:r>
              <a:rPr lang="el-GR" dirty="0"/>
              <a:t>.</a:t>
            </a:r>
          </a:p>
          <a:p>
            <a:r>
              <a:rPr lang="el-GR" dirty="0"/>
              <a:t>Το πρώτο είναι το αρχείο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a:t>
            </a:r>
            <a:r>
              <a:rPr lang="el-GR" dirty="0"/>
              <a:t>. Είναι το χρηματοκιβώτιο του δωματίου σας: μέσα έχει το κλειδί του </a:t>
            </a:r>
            <a:r>
              <a:rPr lang="el-GR" dirty="0" err="1"/>
              <a:t>Gemini</a:t>
            </a:r>
            <a:r>
              <a:rPr lang="el-GR" dirty="0"/>
              <a:t>. Ο κώδικας είναι το δημόσιο φυλλάδιο του ξενοδοχείου,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a:t>
            </a:r>
            <a:r>
              <a:rPr lang="el-GR" dirty="0"/>
              <a:t> είναι η κρυφή θυρίδα. Δεν γράφουμε τον αριθμό του διαβατηρίου μας στο φυλλάδιο.</a:t>
            </a:r>
          </a:p>
          <a:p>
            <a:r>
              <a:rPr lang="el-GR" dirty="0"/>
              <a:t>Το δεύτερο είναι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venv</a:t>
            </a:r>
            <a:r>
              <a:rPr lang="el-GR" dirty="0"/>
              <a:t>, το ιδιωτικό </a:t>
            </a:r>
            <a:r>
              <a:rPr lang="el-GR" dirty="0" err="1"/>
              <a:t>εργαλειοφόρο</a:t>
            </a:r>
            <a:r>
              <a:rPr lang="el-GR" dirty="0"/>
              <a:t> του </a:t>
            </a:r>
            <a:r>
              <a:rPr lang="el-GR" dirty="0" err="1"/>
              <a:t>project</a:t>
            </a:r>
            <a:r>
              <a:rPr lang="el-GR" dirty="0"/>
              <a:t>. Έχει τα </a:t>
            </a:r>
            <a:r>
              <a:rPr lang="el-GR" dirty="0" err="1"/>
              <a:t>packages</a:t>
            </a:r>
            <a:r>
              <a:rPr lang="el-GR" dirty="0"/>
              <a:t> που εγκαταστήσαμε. Δεν το ανεβάζουμε, γιατί ο καθένας το ξαναχτίζει με μία εντολή από το </a:t>
            </a:r>
            <a:r>
              <a:rPr lang="el-GR" sz="1200" kern="1200" dirty="0">
                <a:solidFill>
                  <a:schemeClr val="tx1"/>
                </a:solidFill>
                <a:latin typeface="+mn-lt"/>
                <a:ea typeface="+mn-ea"/>
                <a:cs typeface="+mn-cs"/>
              </a:rPr>
              <a:t>requirements.txt</a:t>
            </a:r>
            <a:r>
              <a:rPr lang="el-GR" dirty="0"/>
              <a:t>.</a:t>
            </a:r>
          </a:p>
          <a:p>
            <a:r>
              <a:rPr lang="el-GR" dirty="0"/>
              <a:t>Ο κανόνας είναι απλός: </a:t>
            </a:r>
            <a:r>
              <a:rPr lang="el-GR" b="1" dirty="0"/>
              <a:t>μοιραζόμαστε τη συνταγή, ποτέ το κελάρι.</a:t>
            </a:r>
            <a:r>
              <a:rPr lang="el-GR" dirty="0"/>
              <a:t> Η συνταγή είναι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env.example</a:t>
            </a:r>
            <a:r>
              <a:rPr lang="el-GR" dirty="0"/>
              <a:t> και το </a:t>
            </a:r>
            <a:r>
              <a:rPr lang="el-GR" sz="1200" kern="1200" dirty="0">
                <a:solidFill>
                  <a:schemeClr val="tx1"/>
                </a:solidFill>
                <a:latin typeface="+mn-lt"/>
                <a:ea typeface="+mn-ea"/>
                <a:cs typeface="+mn-cs"/>
              </a:rPr>
              <a:t>requirements.txt</a:t>
            </a:r>
            <a:r>
              <a:rPr lang="el-GR" dirty="0"/>
              <a:t>. Το κελάρι είναι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a:t>
            </a:r>
            <a:r>
              <a:rPr lang="el-GR" dirty="0"/>
              <a:t> και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venv</a:t>
            </a:r>
            <a:r>
              <a:rPr lang="el-GR" dirty="0"/>
              <a:t>.</a:t>
            </a:r>
          </a:p>
          <a:p>
            <a:r>
              <a:rPr lang="el-GR" dirty="0"/>
              <a:t>Και υπάρχει ένα αρχείο,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gitignore</a:t>
            </a:r>
            <a:r>
              <a:rPr lang="el-GR" dirty="0"/>
              <a:t>, που λειτουργεί σαν πορτιέρης: λέει στο </a:t>
            </a:r>
            <a:r>
              <a:rPr lang="el-GR" dirty="0" err="1"/>
              <a:t>Git</a:t>
            </a:r>
            <a:r>
              <a:rPr lang="el-GR" dirty="0"/>
              <a:t> ότι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a:t>
            </a:r>
            <a:r>
              <a:rPr lang="el-GR" dirty="0"/>
              <a:t> μένει σπίτι.»</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Όλοι στέλνουν το prompt στο Antigravity (είναι στο workshop/06-ship-it.md, κανείς δεν το πληκτρολογεί). Το GIF φτιάχνεται από το βίντεο του browser agent του Μέρους 3 (το prompt με το Record the session). Αν δεν υπάρχει βίντεο: νέο recording ή «there is no recording, skip the GIF». Μετά το README δοκιμάζεται με νέο clone: ο agent μπορεί να γράψει πειστικά αλλά λάθος οδηγίες.</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Στον browser: github.com, το + πάνω δεξιά, New repository, όνομα study-copilot, Public, ΧΩΡΙΣ README γιατί το έγραψε ο agent. Μετά ζητάς από τον agent το push. Εδώ κολλούν οι περισσότεροι: το GitHub δεν δέχεται κωδικό λογαριασμού για push, ανοίγει login στον browser ή χρειάζεται gh auth login ή token. Επειδή έκαναν clone το starter repo, το origin υπάρχει ήδη (συμπέρασμα από τα αρχεία, δοκίμασέ το). Έλεγχος: ανοίγουν το repo από το κινητό.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b="1" dirty="0"/>
              <a:t>Διαφάνεια 6 · Βήμα 2, ο έλεγχος που κάνεις εσύ (2:00)</a:t>
            </a:r>
          </a:p>
          <a:p>
            <a:r>
              <a:rPr lang="el-GR" i="1" dirty="0"/>
              <a:t>[Δείξε ζωντανά την πρώτη εντολή στο </a:t>
            </a:r>
            <a:r>
              <a:rPr lang="el-GR" i="1" dirty="0" err="1"/>
              <a:t>terminal</a:t>
            </a:r>
            <a:r>
              <a:rPr lang="el-GR" i="1" dirty="0"/>
              <a:t>, μέσα στον φάκελο του </a:t>
            </a:r>
            <a:r>
              <a:rPr lang="el-GR" i="1" dirty="0" err="1"/>
              <a:t>project</a:t>
            </a:r>
            <a:r>
              <a:rPr lang="el-GR" i="1" dirty="0"/>
              <a:t>. Μην προβάλεις ποτέ το πραγματικό σου </a:t>
            </a:r>
            <a:r>
              <a:rPr lang="el-GR" sz="1200" i="1" kern="1200" dirty="0">
                <a:solidFill>
                  <a:schemeClr val="tx1"/>
                </a:solidFill>
                <a:latin typeface="+mn-lt"/>
                <a:ea typeface="+mn-ea"/>
                <a:cs typeface="+mn-cs"/>
              </a:rPr>
              <a:t>.</a:t>
            </a:r>
            <a:r>
              <a:rPr lang="el-GR" sz="1200" i="1" kern="1200" dirty="0" err="1">
                <a:solidFill>
                  <a:schemeClr val="tx1"/>
                </a:solidFill>
                <a:latin typeface="+mn-lt"/>
                <a:ea typeface="+mn-ea"/>
                <a:cs typeface="+mn-cs"/>
              </a:rPr>
              <a:t>env</a:t>
            </a:r>
            <a:r>
              <a:rPr lang="el-GR" i="1" dirty="0"/>
              <a:t>]</a:t>
            </a:r>
            <a:endParaRPr lang="el-GR" dirty="0"/>
          </a:p>
          <a:p>
            <a:r>
              <a:rPr lang="el-GR" dirty="0"/>
              <a:t>«Βήμα δύο. Ο </a:t>
            </a:r>
            <a:r>
              <a:rPr lang="el-GR" dirty="0" err="1"/>
              <a:t>agent</a:t>
            </a:r>
            <a:r>
              <a:rPr lang="el-GR" dirty="0"/>
              <a:t> είπε ότι έλεγξε για κλειδιά. Εμείς </a:t>
            </a:r>
            <a:r>
              <a:rPr lang="el-GR" b="1" dirty="0"/>
              <a:t>δεν εμπιστευόμαστε μόνο τον </a:t>
            </a:r>
            <a:r>
              <a:rPr lang="el-GR" b="1" dirty="0" err="1"/>
              <a:t>agent</a:t>
            </a:r>
            <a:r>
              <a:rPr lang="el-GR" b="1" dirty="0"/>
              <a:t>. Ελέγχουμε και μόνοι μας.</a:t>
            </a:r>
            <a:endParaRPr lang="el-GR" dirty="0"/>
          </a:p>
          <a:p>
            <a:r>
              <a:rPr lang="el-GR" dirty="0"/>
              <a:t>Ανοίξτε το </a:t>
            </a:r>
            <a:r>
              <a:rPr lang="el-GR" dirty="0" err="1"/>
              <a:t>terminal</a:t>
            </a:r>
            <a:r>
              <a:rPr lang="el-GR" dirty="0"/>
              <a:t>, μέσα στον φάκελο του </a:t>
            </a:r>
            <a:r>
              <a:rPr lang="el-GR" dirty="0" err="1"/>
              <a:t>project</a:t>
            </a:r>
            <a:r>
              <a:rPr lang="el-GR" dirty="0"/>
              <a:t>, και γράψτε </a:t>
            </a:r>
            <a:r>
              <a:rPr lang="el-GR" sz="1200" kern="1200" dirty="0" err="1">
                <a:solidFill>
                  <a:schemeClr val="tx1"/>
                </a:solidFill>
                <a:latin typeface="+mn-lt"/>
                <a:ea typeface="+mn-ea"/>
                <a:cs typeface="+mn-cs"/>
              </a:rPr>
              <a:t>git</a:t>
            </a:r>
            <a:r>
              <a:rPr lang="el-GR" sz="1200" kern="1200" dirty="0">
                <a:solidFill>
                  <a:schemeClr val="tx1"/>
                </a:solidFill>
                <a:latin typeface="+mn-lt"/>
                <a:ea typeface="+mn-ea"/>
                <a:cs typeface="+mn-cs"/>
              </a:rPr>
              <a:t> status</a:t>
            </a:r>
            <a:r>
              <a:rPr lang="el-GR" dirty="0"/>
              <a:t>. Αυτό δείχνει τα αρχεία που πρόκειται να αποθηκευτούν.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a:t>
            </a:r>
            <a:r>
              <a:rPr lang="el-GR" dirty="0"/>
              <a:t> </a:t>
            </a:r>
            <a:r>
              <a:rPr lang="el-GR" b="1" dirty="0"/>
              <a:t>δεν</a:t>
            </a:r>
            <a:r>
              <a:rPr lang="el-GR" dirty="0"/>
              <a:t> πρέπει να είναι στη λίστα. Αν το δείτε, σταματήστε και σηκώστε χέρι.</a:t>
            </a:r>
          </a:p>
          <a:p>
            <a:r>
              <a:rPr lang="el-GR" dirty="0"/>
              <a:t>Όμως προσοχή: το </a:t>
            </a:r>
            <a:r>
              <a:rPr lang="el-GR" sz="1200" kern="1200" dirty="0" err="1">
                <a:solidFill>
                  <a:schemeClr val="tx1"/>
                </a:solidFill>
                <a:latin typeface="+mn-lt"/>
                <a:ea typeface="+mn-ea"/>
                <a:cs typeface="+mn-cs"/>
              </a:rPr>
              <a:t>git</a:t>
            </a:r>
            <a:r>
              <a:rPr lang="el-GR" sz="1200" kern="1200" dirty="0">
                <a:solidFill>
                  <a:schemeClr val="tx1"/>
                </a:solidFill>
                <a:latin typeface="+mn-lt"/>
                <a:ea typeface="+mn-ea"/>
                <a:cs typeface="+mn-cs"/>
              </a:rPr>
              <a:t> status</a:t>
            </a:r>
            <a:r>
              <a:rPr lang="el-GR" dirty="0"/>
              <a:t> από μόνο του </a:t>
            </a:r>
            <a:r>
              <a:rPr lang="el-GR" b="1" dirty="0"/>
              <a:t>δεν αρκεί</a:t>
            </a:r>
            <a:r>
              <a:rPr lang="el-GR" dirty="0"/>
              <a:t>. Δείχνει μόνο ό,τι δεν έχει αποθηκευτεί ακόμα. Ένα κλειδί μπορεί να κρύβεται σε παλιό </a:t>
            </a:r>
            <a:r>
              <a:rPr lang="el-GR" dirty="0" err="1"/>
              <a:t>commit</a:t>
            </a:r>
            <a:r>
              <a:rPr lang="el-GR" dirty="0"/>
              <a:t>. Γι' αυτό έχουμε και δύο εντολές αναζήτησης: μία για τα αρχεία και μία για το ιστορικό. Τα κλειδιά του </a:t>
            </a:r>
            <a:r>
              <a:rPr lang="el-GR" dirty="0" err="1"/>
              <a:t>Gemini</a:t>
            </a:r>
            <a:r>
              <a:rPr lang="el-GR" dirty="0"/>
              <a:t> συνήθως ξεκινούν από "</a:t>
            </a:r>
            <a:r>
              <a:rPr lang="el-GR" dirty="0" err="1"/>
              <a:t>AIza</a:t>
            </a:r>
            <a:r>
              <a:rPr lang="el-GR" dirty="0"/>
              <a:t>". Αν δεν τυπώσουν τίποτα, είμαστε καλά.</a:t>
            </a:r>
          </a:p>
          <a:p>
            <a:r>
              <a:rPr lang="el-GR" dirty="0"/>
              <a:t>Και ένα τελευταίο, που δεν το βλέπει καμία εντολή: </a:t>
            </a:r>
            <a:r>
              <a:rPr lang="el-GR" b="1" dirty="0"/>
              <a:t>κοιτάξτε το GIF με τα μάτια σας.</a:t>
            </a:r>
            <a:r>
              <a:rPr lang="el-GR" dirty="0"/>
              <a:t> Μην φαίνεται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a:t>
            </a:r>
            <a:r>
              <a:rPr lang="el-GR" dirty="0"/>
              <a:t>, το κλειδί ή κάποιο προσωπικό αρχείο. Μια εικόνα δεν την ψάχνει το </a:t>
            </a:r>
            <a:r>
              <a:rPr lang="el-GR" dirty="0" err="1"/>
              <a:t>grep</a:t>
            </a:r>
            <a:r>
              <a:rPr lang="el-GR" dirty="0"/>
              <a:t>.»</a:t>
            </a:r>
          </a:p>
          <a:p>
            <a:endParaRPr lang="en-US" dirty="0"/>
          </a:p>
          <a:p>
            <a:endParaRPr lang="en-US" dirty="0"/>
          </a:p>
          <a:p>
            <a:r>
              <a:rPr lang="en-US" dirty="0" err="1"/>
              <a:t>Το</a:t>
            </a:r>
            <a:r>
              <a:rPr lang="en-US" dirty="0"/>
              <a:t> π</a:t>
            </a:r>
            <a:r>
              <a:rPr lang="en-US" dirty="0" err="1"/>
              <a:t>ιο</a:t>
            </a:r>
            <a:r>
              <a:rPr lang="en-US" dirty="0"/>
              <a:t> </a:t>
            </a:r>
            <a:r>
              <a:rPr lang="en-US" dirty="0" err="1"/>
              <a:t>σημ</a:t>
            </a:r>
            <a:r>
              <a:rPr lang="en-US" dirty="0"/>
              <a:t>αντικό μήνυμα. </a:t>
            </a:r>
            <a:r>
              <a:rPr lang="en-US" dirty="0" err="1"/>
              <a:t>Τρέξε</a:t>
            </a:r>
            <a:r>
              <a:rPr lang="en-US" dirty="0"/>
              <a:t> git status </a:t>
            </a:r>
            <a:r>
              <a:rPr lang="en-US" dirty="0" err="1"/>
              <a:t>μέσ</a:t>
            </a:r>
            <a:r>
              <a:rPr lang="en-US" dirty="0"/>
              <a:t>α στον φάκελο: το .env δεν πρέπει να φαίνεται. </a:t>
            </a:r>
            <a:r>
              <a:rPr lang="en-US" dirty="0" err="1"/>
              <a:t>Το</a:t>
            </a:r>
            <a:r>
              <a:rPr lang="en-US" dirty="0"/>
              <a:t> git status </a:t>
            </a:r>
            <a:r>
              <a:rPr lang="en-US" dirty="0" err="1"/>
              <a:t>όμως</a:t>
            </a:r>
            <a:r>
              <a:rPr lang="en-US" dirty="0"/>
              <a:t> </a:t>
            </a:r>
            <a:r>
              <a:rPr lang="en-US" dirty="0" err="1"/>
              <a:t>δείχνει</a:t>
            </a:r>
            <a:r>
              <a:rPr lang="en-US" dirty="0"/>
              <a:t> </a:t>
            </a:r>
            <a:r>
              <a:rPr lang="en-US" dirty="0" err="1"/>
              <a:t>μόνο</a:t>
            </a:r>
            <a:r>
              <a:rPr lang="en-US" dirty="0"/>
              <a:t> </a:t>
            </a:r>
            <a:r>
              <a:rPr lang="en-US" dirty="0" err="1"/>
              <a:t>ό,τι</a:t>
            </a:r>
            <a:r>
              <a:rPr lang="en-US" dirty="0"/>
              <a:t> </a:t>
            </a:r>
            <a:r>
              <a:rPr lang="en-US" dirty="0" err="1"/>
              <a:t>δεν</a:t>
            </a:r>
            <a:r>
              <a:rPr lang="en-US" dirty="0"/>
              <a:t> </a:t>
            </a:r>
            <a:r>
              <a:rPr lang="en-US" dirty="0" err="1"/>
              <a:t>έχει</a:t>
            </a:r>
            <a:r>
              <a:rPr lang="en-US" dirty="0"/>
              <a:t> απ</a:t>
            </a:r>
            <a:r>
              <a:rPr lang="en-US" dirty="0" err="1"/>
              <a:t>οθηκευτεί</a:t>
            </a:r>
            <a:r>
              <a:rPr lang="en-US" dirty="0"/>
              <a:t>, </a:t>
            </a:r>
            <a:r>
              <a:rPr lang="en-US" dirty="0" err="1"/>
              <a:t>άρ</a:t>
            </a:r>
            <a:r>
              <a:rPr lang="en-US" dirty="0"/>
              <a:t>α ψάξε και στα αρχεία και στο ιστορικό. Τα </a:t>
            </a:r>
            <a:r>
              <a:rPr lang="en-US" dirty="0" err="1"/>
              <a:t>κλειδιά</a:t>
            </a:r>
            <a:r>
              <a:rPr lang="en-US" dirty="0"/>
              <a:t> Gemini </a:t>
            </a:r>
            <a:r>
              <a:rPr lang="en-US" dirty="0" err="1"/>
              <a:t>συνήθως</a:t>
            </a:r>
            <a:r>
              <a:rPr lang="en-US" dirty="0"/>
              <a:t> </a:t>
            </a:r>
            <a:r>
              <a:rPr lang="en-US" dirty="0" err="1"/>
              <a:t>ξεκινούν</a:t>
            </a:r>
            <a:r>
              <a:rPr lang="en-US" dirty="0"/>
              <a:t> </a:t>
            </a:r>
            <a:r>
              <a:rPr lang="en-US" dirty="0" err="1"/>
              <a:t>με</a:t>
            </a:r>
            <a:r>
              <a:rPr lang="en-US" dirty="0"/>
              <a:t> </a:t>
            </a:r>
            <a:r>
              <a:rPr lang="en-US" dirty="0" err="1"/>
              <a:t>AIza</a:t>
            </a:r>
            <a:r>
              <a:rPr lang="en-US" dirty="0"/>
              <a:t> (</a:t>
            </a:r>
            <a:r>
              <a:rPr lang="en-US" dirty="0" err="1"/>
              <a:t>γενική</a:t>
            </a:r>
            <a:r>
              <a:rPr lang="en-US" dirty="0"/>
              <a:t> </a:t>
            </a:r>
            <a:r>
              <a:rPr lang="en-US" dirty="0" err="1"/>
              <a:t>γνώση</a:t>
            </a:r>
            <a:r>
              <a:rPr lang="en-US" dirty="0"/>
              <a:t>, </a:t>
            </a:r>
            <a:r>
              <a:rPr lang="en-US" dirty="0" err="1"/>
              <a:t>όχι</a:t>
            </a:r>
            <a:r>
              <a:rPr lang="en-US" dirty="0"/>
              <a:t> κα</a:t>
            </a:r>
            <a:r>
              <a:rPr lang="en-US" dirty="0" err="1"/>
              <a:t>νόν</a:t>
            </a:r>
            <a:r>
              <a:rPr lang="en-US" dirty="0"/>
              <a:t>ας). </a:t>
            </a:r>
            <a:r>
              <a:rPr lang="en-US" dirty="0" err="1"/>
              <a:t>Το</a:t>
            </a:r>
            <a:r>
              <a:rPr lang="en-US" dirty="0"/>
              <a:t> grep </a:t>
            </a:r>
            <a:r>
              <a:rPr lang="en-US" dirty="0" err="1"/>
              <a:t>δεν</a:t>
            </a:r>
            <a:r>
              <a:rPr lang="en-US" dirty="0"/>
              <a:t> </a:t>
            </a:r>
            <a:r>
              <a:rPr lang="en-US" dirty="0" err="1"/>
              <a:t>δι</a:t>
            </a:r>
            <a:r>
              <a:rPr lang="en-US" dirty="0"/>
              <a:t>αβάζει εικόνες: δες το GIF με τα μάτια σου. </a:t>
            </a:r>
            <a:r>
              <a:rPr lang="en-US" dirty="0" err="1"/>
              <a:t>Μην</a:t>
            </a:r>
            <a:r>
              <a:rPr lang="en-US" dirty="0"/>
              <a:t> π</a:t>
            </a:r>
            <a:r>
              <a:rPr lang="en-US" dirty="0" err="1"/>
              <a:t>ρο</a:t>
            </a:r>
            <a:r>
              <a:rPr lang="en-US" dirty="0"/>
              <a:t>βάλλεις ποτέ το πραγματικό σου .env.</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Git θυμάται τα πάντα, άρα το σβήσιμο μετά δεν βοηθά. Αυτόματα προγράμματα ψάχνουν το GitHub για κλειδιά (γενική γνώση). Εδώ το κλειδί είναι του δωρεάν tier, άρα ο ρεαλιστικός κίνδυνος είναι να χαθεί το quota. Η εξαίρεση: φοιτητής με Google Cloud project με billing, τότε μπορεί να υπάρξει κόστος. Πες στην αίθουσα: αν γίνει, δεν το κρύβεις, το ακυρώνεις σε δύο λεπτά.</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Αυτοματισμός σημαίνει ότι ο υπολογιστής κάνει κάτι μόνος του, χωρίς εσάς.</a:t>
            </a:r>
          </a:p>
          <a:p>
            <a:r>
              <a:rPr lang="el-GR" dirty="0"/>
              <a:t>Στείλτε το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schedule</a:t>
            </a:r>
            <a:r>
              <a:rPr lang="el-GR" dirty="0"/>
              <a:t> </a:t>
            </a:r>
            <a:r>
              <a:rPr lang="el-GR" dirty="0" err="1"/>
              <a:t>prompt</a:t>
            </a:r>
            <a:r>
              <a:rPr lang="el-GR" dirty="0"/>
              <a:t>: "κάθε Κυριακή στις 18:00 γράψε ένα </a:t>
            </a:r>
            <a:r>
              <a:rPr lang="el-GR" dirty="0" err="1"/>
              <a:t>quiz</a:t>
            </a:r>
            <a:r>
              <a:rPr lang="el-GR" dirty="0"/>
              <a:t> 10 ερωτήσεων από τα PDF". Μετά πατήστε </a:t>
            </a:r>
            <a:r>
              <a:rPr lang="el-GR" b="1" dirty="0" err="1"/>
              <a:t>Run</a:t>
            </a:r>
            <a:r>
              <a:rPr lang="el-GR" b="1" dirty="0"/>
              <a:t> </a:t>
            </a:r>
            <a:r>
              <a:rPr lang="el-GR" b="1" dirty="0" err="1"/>
              <a:t>Now</a:t>
            </a:r>
            <a:r>
              <a:rPr lang="el-GR" dirty="0"/>
              <a:t>, για να δείτε αποτέλεσμα αμέσως και όχι την Κυριακή. Στα </a:t>
            </a:r>
            <a:r>
              <a:rPr lang="el-GR" dirty="0" err="1"/>
              <a:t>codelabs</a:t>
            </a:r>
            <a:r>
              <a:rPr lang="el-GR" dirty="0"/>
              <a:t> της </a:t>
            </a:r>
            <a:r>
              <a:rPr lang="el-GR" dirty="0" err="1"/>
              <a:t>Google</a:t>
            </a:r>
            <a:r>
              <a:rPr lang="el-GR" dirty="0"/>
              <a:t> το λένε ακόμα "</a:t>
            </a:r>
            <a:r>
              <a:rPr lang="el-GR" dirty="0" err="1"/>
              <a:t>Scheduled</a:t>
            </a:r>
            <a:r>
              <a:rPr lang="el-GR" dirty="0"/>
              <a:t> </a:t>
            </a:r>
            <a:r>
              <a:rPr lang="el-GR" dirty="0" err="1"/>
              <a:t>Tasks</a:t>
            </a:r>
            <a:r>
              <a:rPr lang="el-GR" dirty="0"/>
              <a:t>". Πλέον λέγεται </a:t>
            </a:r>
            <a:r>
              <a:rPr lang="el-GR" dirty="0" err="1"/>
              <a:t>Automations</a:t>
            </a:r>
            <a:r>
              <a:rPr lang="el-GR" dirty="0"/>
              <a:t>.</a:t>
            </a:r>
          </a:p>
          <a:p>
            <a:r>
              <a:rPr lang="el-GR" dirty="0"/>
              <a:t>Το δεύτερο είναι το </a:t>
            </a:r>
            <a:r>
              <a:rPr lang="el-GR" sz="1200" kern="1200" dirty="0" err="1">
                <a:solidFill>
                  <a:schemeClr val="tx1"/>
                </a:solidFill>
                <a:latin typeface="+mn-lt"/>
                <a:ea typeface="+mn-ea"/>
                <a:cs typeface="+mn-cs"/>
              </a:rPr>
              <a:t>agy</a:t>
            </a:r>
            <a:r>
              <a:rPr lang="el-GR" sz="1200" kern="1200" dirty="0">
                <a:solidFill>
                  <a:schemeClr val="tx1"/>
                </a:solidFill>
                <a:latin typeface="+mn-lt"/>
                <a:ea typeface="+mn-ea"/>
                <a:cs typeface="+mn-cs"/>
              </a:rPr>
              <a:t> -p</a:t>
            </a:r>
            <a:r>
              <a:rPr lang="el-GR" dirty="0"/>
              <a:t>. Κανονικά μιλάτε στον </a:t>
            </a:r>
            <a:r>
              <a:rPr lang="el-GR" dirty="0" err="1"/>
              <a:t>agent</a:t>
            </a:r>
            <a:r>
              <a:rPr lang="el-GR" dirty="0"/>
              <a:t> μέσα σε ένα παράθυρο. Με το </a:t>
            </a:r>
            <a:r>
              <a:rPr lang="el-GR" sz="1200" kern="1200" dirty="0" err="1">
                <a:solidFill>
                  <a:schemeClr val="tx1"/>
                </a:solidFill>
                <a:latin typeface="+mn-lt"/>
                <a:ea typeface="+mn-ea"/>
                <a:cs typeface="+mn-cs"/>
              </a:rPr>
              <a:t>agy</a:t>
            </a:r>
            <a:r>
              <a:rPr lang="el-GR" sz="1200" kern="1200" dirty="0">
                <a:solidFill>
                  <a:schemeClr val="tx1"/>
                </a:solidFill>
                <a:latin typeface="+mn-lt"/>
                <a:ea typeface="+mn-ea"/>
                <a:cs typeface="+mn-cs"/>
              </a:rPr>
              <a:t> -p</a:t>
            </a:r>
            <a:r>
              <a:rPr lang="el-GR" dirty="0"/>
              <a:t> του δίνετε μία εντολή από το </a:t>
            </a:r>
            <a:r>
              <a:rPr lang="el-GR" dirty="0" err="1"/>
              <a:t>terminal</a:t>
            </a:r>
            <a:r>
              <a:rPr lang="el-GR" dirty="0"/>
              <a:t>, και σας τυπώνει την απάντηση. Η αξία του είναι ότι </a:t>
            </a:r>
            <a:r>
              <a:rPr lang="el-GR" b="1" dirty="0"/>
              <a:t>μπορεί να το τρέξει ένα </a:t>
            </a:r>
            <a:r>
              <a:rPr lang="el-GR" b="1" dirty="0" err="1"/>
              <a:t>script</a:t>
            </a:r>
            <a:r>
              <a:rPr lang="el-GR" b="1" dirty="0"/>
              <a:t> χωρίς άνθρωπο</a:t>
            </a:r>
            <a:r>
              <a:rPr lang="el-GR" dirty="0"/>
              <a:t>: μία εντολή και έχετε περίληψη για 20 PDF.</a:t>
            </a:r>
          </a:p>
          <a:p>
            <a:r>
              <a:rPr lang="el-GR" dirty="0"/>
              <a:t>Μια εξήγηση: αυτό </a:t>
            </a:r>
            <a:r>
              <a:rPr lang="el-GR" b="1" dirty="0"/>
              <a:t>δεν τρέχει στο </a:t>
            </a:r>
            <a:r>
              <a:rPr lang="el-GR" b="1" dirty="0" err="1"/>
              <a:t>cloud</a:t>
            </a:r>
            <a:r>
              <a:rPr lang="el-GR" dirty="0"/>
              <a:t>. Τρέχει στο laptop σας, και αν το κλείσετε, σταματά. Στα Windows το </a:t>
            </a:r>
            <a:r>
              <a:rPr lang="el-GR" dirty="0" err="1"/>
              <a:t>loop</a:t>
            </a:r>
            <a:r>
              <a:rPr lang="el-GR" dirty="0"/>
              <a:t> θέλει </a:t>
            </a:r>
            <a:r>
              <a:rPr lang="el-GR" dirty="0" err="1"/>
              <a:t>Git</a:t>
            </a:r>
            <a:r>
              <a:rPr lang="el-GR" dirty="0"/>
              <a:t> </a:t>
            </a:r>
            <a:r>
              <a:rPr lang="el-GR" dirty="0" err="1"/>
              <a:t>Bash</a:t>
            </a:r>
            <a:r>
              <a:rPr lang="el-GR" dirty="0"/>
              <a:t>.»</a:t>
            </a:r>
          </a:p>
          <a:p>
            <a:endParaRPr lang="en-US" dirty="0"/>
          </a:p>
          <a:p>
            <a:r>
              <a:rPr lang="en-US" dirty="0"/>
              <a:t>**</a:t>
            </a:r>
          </a:p>
          <a:p>
            <a:r>
              <a:rPr lang="en-US" dirty="0" err="1"/>
              <a:t>Αυτομ</a:t>
            </a:r>
            <a:r>
              <a:rPr lang="en-US" dirty="0"/>
              <a:t>ατισμός σημαίνει ότι ο υπολογιστής κάνει κάτι μόνος του. Automation: /schedule και μετά Run Now για άμεσο αποτέλεσμα. Τα codelabs λένε Scheduled Tasks, από τις 7 Οκτωβρίου 2026 (κατά τα αρχεία σου) λέγεται Automations. agy -p: ο ίδιος agent ως εντολή στο terminal, δεν τρέχει στο cloud, σταματά αν κλείσεις το laptop. Στα Windows το loop θέλει Git Bash. Κόβεται πρώτο αν πιέζει ο χρόνος.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b="1" dirty="0"/>
              <a:t>Διαφάνεια 10 · Προβλήματα και λύσεις (αναφορά, 10″)</a:t>
            </a:r>
          </a:p>
          <a:p>
            <a:r>
              <a:rPr lang="el-GR" dirty="0"/>
              <a:t>«Αυτή η διαφάνεια είναι για όταν κολλήσετε. Δεν θα τη διαβάσουμε. Έχει τα συνηθισμένα προβλήματα με τις λύσεις τους. Αν κανένα δεν ταιριάζει, σηκώστε χέρι.»</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Οι helpers ελέγχουν δύο πράγματα: δημόσιο repo που ανοίγει από το κινητό, και κανένα κλειδί μέσα. Boss level: GitHub Actions που τρέχουν τα tests σε κάθε push, με badge. Homework σε τρία σκαλοπάτια: δικά τους μαθήματα, ένα νέο study mode, link στο LinkedIn με #GDGOnCampus. Κλείσε με: «0 €, χωρίς κάρτα, χωρίς cloud.»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Θέση σημειώσεων 2"/>
          <p:cNvSpPr>
            <a:spLocks noGrp="1"/>
          </p:cNvSpPr>
          <p:nvPr>
            <p:ph type="body" idx="1"/>
          </p:nvPr>
        </p:nvSpPr>
        <p:spPr>
          <a:xfrm>
            <a:off x="514350" y="4400550"/>
            <a:ext cx="4114800" cy="3600450"/>
          </a:xfrm>
          <a:prstGeom prst="rect">
            <a:avLst/>
          </a:prstGeom>
        </p:spPr>
        <p:txBody>
          <a:bodyPr/>
          <a:lstStyle/>
          <a:p>
            <a:r>
              <a:rPr lang="el-GR" b="1" dirty="0"/>
              <a:t>Διαφάνεια 5 · Βήμα 1, ο </a:t>
            </a:r>
            <a:r>
              <a:rPr lang="el-GR" b="1" dirty="0" err="1"/>
              <a:t>agent</a:t>
            </a:r>
            <a:r>
              <a:rPr lang="el-GR" b="1" dirty="0"/>
              <a:t> ετοιμάζει το </a:t>
            </a:r>
            <a:r>
              <a:rPr lang="el-GR" b="1" dirty="0" err="1"/>
              <a:t>repo</a:t>
            </a:r>
            <a:r>
              <a:rPr lang="el-GR" b="1" dirty="0"/>
              <a:t> (2:00)</a:t>
            </a:r>
          </a:p>
          <a:p>
            <a:r>
              <a:rPr lang="el-GR" i="1" dirty="0"/>
              <a:t>[Όλοι επικολλούν το </a:t>
            </a:r>
            <a:r>
              <a:rPr lang="el-GR" i="1" dirty="0" err="1"/>
              <a:t>prompt</a:t>
            </a:r>
            <a:r>
              <a:rPr lang="el-GR" i="1" dirty="0"/>
              <a:t> από το </a:t>
            </a:r>
            <a:r>
              <a:rPr lang="el-GR" sz="1200" i="1" kern="1200" dirty="0" err="1">
                <a:solidFill>
                  <a:schemeClr val="tx1"/>
                </a:solidFill>
                <a:latin typeface="+mn-lt"/>
                <a:ea typeface="+mn-ea"/>
                <a:cs typeface="+mn-cs"/>
              </a:rPr>
              <a:t>workshop</a:t>
            </a:r>
            <a:r>
              <a:rPr lang="el-GR" sz="1200" i="1" kern="1200" dirty="0">
                <a:solidFill>
                  <a:schemeClr val="tx1"/>
                </a:solidFill>
                <a:latin typeface="+mn-lt"/>
                <a:ea typeface="+mn-ea"/>
                <a:cs typeface="+mn-cs"/>
              </a:rPr>
              <a:t>/06-ship-it.md</a:t>
            </a:r>
            <a:r>
              <a:rPr lang="el-GR" i="1" dirty="0"/>
              <a:t>. Μην το διαβάσεις ολόκληρο]</a:t>
            </a:r>
            <a:endParaRPr lang="el-GR" dirty="0"/>
          </a:p>
          <a:p>
            <a:r>
              <a:rPr lang="el-GR" dirty="0"/>
              <a:t>«Βήμα ένα. Δεν θα πληκτρολογήσει κανείς: το </a:t>
            </a:r>
            <a:r>
              <a:rPr lang="el-GR" dirty="0" err="1"/>
              <a:t>prompt</a:t>
            </a:r>
            <a:r>
              <a:rPr lang="el-GR" dirty="0"/>
              <a:t> είναι στο αρχείο </a:t>
            </a:r>
            <a:r>
              <a:rPr lang="el-GR" sz="1200" kern="1200" dirty="0">
                <a:solidFill>
                  <a:schemeClr val="tx1"/>
                </a:solidFill>
                <a:latin typeface="+mn-lt"/>
                <a:ea typeface="+mn-ea"/>
                <a:cs typeface="+mn-cs"/>
              </a:rPr>
              <a:t>06-ship-it.md</a:t>
            </a:r>
            <a:r>
              <a:rPr lang="el-GR" dirty="0"/>
              <a:t> του </a:t>
            </a:r>
            <a:r>
              <a:rPr lang="el-GR" dirty="0" err="1"/>
              <a:t>starter</a:t>
            </a:r>
            <a:r>
              <a:rPr lang="el-GR" dirty="0"/>
              <a:t> </a:t>
            </a:r>
            <a:r>
              <a:rPr lang="el-GR" dirty="0" err="1"/>
              <a:t>repo</a:t>
            </a:r>
            <a:r>
              <a:rPr lang="el-GR" dirty="0"/>
              <a:t>. Αντιγράψτε το και στείλτε το στον </a:t>
            </a:r>
            <a:r>
              <a:rPr lang="el-GR" dirty="0" err="1"/>
              <a:t>agent</a:t>
            </a:r>
            <a:r>
              <a:rPr lang="el-GR" dirty="0"/>
              <a:t>.</a:t>
            </a:r>
          </a:p>
          <a:p>
            <a:r>
              <a:rPr lang="el-GR" dirty="0"/>
              <a:t>Τι του ζητάμε; Να κάνει τη βαρετή δουλειά. Να φτιάξει το README, με τι κάνει το </a:t>
            </a:r>
            <a:r>
              <a:rPr lang="el-GR" dirty="0" err="1"/>
              <a:t>app</a:t>
            </a:r>
            <a:r>
              <a:rPr lang="el-GR" dirty="0"/>
              <a:t>, πώς το τρέχεις σε τρεις εντολές, πώς παίρνεις δωρεάν κλειδί, πώς δουλεύει η ιδιωτική λειτουργία και πώς συνδέεται το MCP. Και να βάλει στην κορυφή ένα GIF.</a:t>
            </a:r>
          </a:p>
          <a:p>
            <a:r>
              <a:rPr lang="el-GR" dirty="0"/>
              <a:t>Το GIF θα το φτιάξει από το </a:t>
            </a:r>
            <a:r>
              <a:rPr lang="el-GR" b="1" dirty="0"/>
              <a:t>βίντεο του </a:t>
            </a:r>
            <a:r>
              <a:rPr lang="el-GR" b="1" dirty="0" err="1"/>
              <a:t>browser</a:t>
            </a:r>
            <a:r>
              <a:rPr lang="el-GR" b="1" dirty="0"/>
              <a:t> </a:t>
            </a:r>
            <a:r>
              <a:rPr lang="el-GR" b="1" dirty="0" err="1"/>
              <a:t>agent</a:t>
            </a:r>
            <a:r>
              <a:rPr lang="el-GR" b="1" dirty="0"/>
              <a:t> που κρατήσαμε στο Μέρος 3</a:t>
            </a:r>
            <a:r>
              <a:rPr lang="el-GR" dirty="0"/>
              <a:t>, αυτό με το "</a:t>
            </a:r>
            <a:r>
              <a:rPr lang="el-GR" dirty="0" err="1"/>
              <a:t>Record</a:t>
            </a:r>
            <a:r>
              <a:rPr lang="el-GR" dirty="0"/>
              <a:t> the </a:t>
            </a:r>
            <a:r>
              <a:rPr lang="el-GR" dirty="0" err="1"/>
              <a:t>session</a:t>
            </a:r>
            <a:r>
              <a:rPr lang="el-GR" dirty="0"/>
              <a:t>". Αν δεν έχετε βίντεο, δεν πειράζει: ή ξανατρέχετε εκείνο το </a:t>
            </a:r>
            <a:r>
              <a:rPr lang="el-GR" dirty="0" err="1"/>
              <a:t>prompt</a:t>
            </a:r>
            <a:r>
              <a:rPr lang="el-GR" dirty="0"/>
              <a:t>, ή λέτε στον </a:t>
            </a:r>
            <a:r>
              <a:rPr lang="el-GR" dirty="0" err="1"/>
              <a:t>agent</a:t>
            </a:r>
            <a:r>
              <a:rPr lang="el-GR" dirty="0"/>
              <a:t> "</a:t>
            </a:r>
            <a:r>
              <a:rPr lang="el-GR" dirty="0" err="1"/>
              <a:t>there</a:t>
            </a:r>
            <a:r>
              <a:rPr lang="el-GR" dirty="0"/>
              <a:t> </a:t>
            </a:r>
            <a:r>
              <a:rPr lang="el-GR" dirty="0" err="1"/>
              <a:t>is</a:t>
            </a:r>
            <a:r>
              <a:rPr lang="el-GR" dirty="0"/>
              <a:t> </a:t>
            </a:r>
            <a:r>
              <a:rPr lang="el-GR" dirty="0" err="1"/>
              <a:t>no</a:t>
            </a:r>
            <a:r>
              <a:rPr lang="el-GR" dirty="0"/>
              <a:t> </a:t>
            </a:r>
            <a:r>
              <a:rPr lang="el-GR" dirty="0" err="1"/>
              <a:t>recording</a:t>
            </a:r>
            <a:r>
              <a:rPr lang="el-GR" dirty="0"/>
              <a:t>, </a:t>
            </a:r>
            <a:r>
              <a:rPr lang="el-GR" dirty="0" err="1"/>
              <a:t>skip</a:t>
            </a:r>
            <a:r>
              <a:rPr lang="el-GR" dirty="0"/>
              <a:t> the GIF". Το GIF είναι ωραίο, αλλά δεν είναι απαραίτητο.</a:t>
            </a:r>
          </a:p>
          <a:p>
            <a:r>
              <a:rPr lang="el-GR" dirty="0"/>
              <a:t>Όσο δουλεύει ο </a:t>
            </a:r>
            <a:r>
              <a:rPr lang="el-GR" dirty="0" err="1"/>
              <a:t>agent</a:t>
            </a:r>
            <a:r>
              <a:rPr lang="el-GR" dirty="0"/>
              <a:t>, θα σας πω το πιο σημαντικό πράγμα της ώρας.»</a:t>
            </a:r>
          </a:p>
          <a:p>
            <a:r>
              <a:rPr lang="el-GR" b="1" dirty="0"/>
              <a:t>Διαφάνεια 7 · Αν ανέβει κλειδί (1:00)</a:t>
            </a:r>
          </a:p>
          <a:p>
            <a:r>
              <a:rPr lang="el-GR" dirty="0"/>
              <a:t>«Τι γίνεται αν παρ' όλα αυτά ανέβει ένα κλειδί; Θυμάστε ότι το </a:t>
            </a:r>
            <a:r>
              <a:rPr lang="el-GR" dirty="0" err="1"/>
              <a:t>Git</a:t>
            </a:r>
            <a:r>
              <a:rPr lang="el-GR" dirty="0"/>
              <a:t> θυμάται τα πάντα. Άρα </a:t>
            </a:r>
            <a:r>
              <a:rPr lang="el-GR" b="1" dirty="0"/>
              <a:t>δεν αρκεί να σβήσετε το αρχείο</a:t>
            </a:r>
            <a:r>
              <a:rPr lang="el-GR" dirty="0"/>
              <a:t>: το κλειδί μένει στο ιστορικό, και προγράμματα ψάχνουν το </a:t>
            </a:r>
            <a:r>
              <a:rPr lang="el-GR" dirty="0" err="1"/>
              <a:t>GitHub</a:t>
            </a:r>
            <a:r>
              <a:rPr lang="el-GR" dirty="0"/>
              <a:t> για κλειδιά.</a:t>
            </a:r>
          </a:p>
          <a:p>
            <a:r>
              <a:rPr lang="el-GR" dirty="0"/>
              <a:t>Η λύση έχει τρία βήματα. Το σβήνετε στο aistudio.google.com. Φτιάχνετε νέο. Και το βάζετε μόνο στο δικό σας τοπικό </a:t>
            </a:r>
            <a:r>
              <a:rPr lang="el-GR" sz="1200" kern="1200" dirty="0">
                <a:solidFill>
                  <a:schemeClr val="tx1"/>
                </a:solidFill>
                <a:latin typeface="+mn-lt"/>
                <a:ea typeface="+mn-ea"/>
                <a:cs typeface="+mn-cs"/>
              </a:rPr>
              <a:t>.</a:t>
            </a:r>
            <a:r>
              <a:rPr lang="el-GR" sz="1200" kern="1200" dirty="0" err="1">
                <a:solidFill>
                  <a:schemeClr val="tx1"/>
                </a:solidFill>
                <a:latin typeface="+mn-lt"/>
                <a:ea typeface="+mn-ea"/>
                <a:cs typeface="+mn-cs"/>
              </a:rPr>
              <a:t>env</a:t>
            </a:r>
            <a:r>
              <a:rPr lang="el-GR" dirty="0"/>
              <a:t>.</a:t>
            </a:r>
          </a:p>
          <a:p>
            <a:r>
              <a:rPr lang="el-GR" dirty="0"/>
              <a:t>Καθησυχαστικά: το δικό μας κλειδί είναι του δωρεάν </a:t>
            </a:r>
            <a:r>
              <a:rPr lang="el-GR" dirty="0" err="1"/>
              <a:t>tier</a:t>
            </a:r>
            <a:r>
              <a:rPr lang="el-GR" dirty="0"/>
              <a:t>, χωρίς κάρτα. Στη χειρότερη θα χάσετε λίγο </a:t>
            </a:r>
            <a:r>
              <a:rPr lang="el-GR" dirty="0" err="1"/>
              <a:t>quota</a:t>
            </a:r>
            <a:r>
              <a:rPr lang="el-GR" dirty="0"/>
              <a:t>. Αν όμως κάποιος χρησιμοποιεί κλειδί από </a:t>
            </a:r>
            <a:r>
              <a:rPr lang="el-GR" dirty="0" err="1"/>
              <a:t>Google</a:t>
            </a:r>
            <a:r>
              <a:rPr lang="el-GR" dirty="0"/>
              <a:t> </a:t>
            </a:r>
            <a:r>
              <a:rPr lang="el-GR" dirty="0" err="1"/>
              <a:t>Cloud</a:t>
            </a:r>
            <a:r>
              <a:rPr lang="el-GR" dirty="0"/>
              <a:t> </a:t>
            </a:r>
            <a:r>
              <a:rPr lang="el-GR" dirty="0" err="1"/>
              <a:t>project</a:t>
            </a:r>
            <a:r>
              <a:rPr lang="el-GR" dirty="0"/>
              <a:t> με χρέωση, ας το πει τώρα.</a:t>
            </a:r>
          </a:p>
          <a:p>
            <a:r>
              <a:rPr lang="el-GR" dirty="0"/>
              <a:t>Και κάτι που θέλω να θυμάστε: </a:t>
            </a:r>
            <a:r>
              <a:rPr lang="el-GR" b="1" dirty="0"/>
              <a:t>αν συμβεί, δεν το κρύβετε. Το ακυρώνετε σε δύο λεπτά.</a:t>
            </a:r>
            <a:r>
              <a:rPr lang="el-GR" dirty="0"/>
              <a:t> Μπορεί να συμβεί σε οποιονδήποτε.»</a:t>
            </a:r>
          </a:p>
          <a:p>
            <a:br>
              <a:rPr lang="el-GR" dirty="0"/>
            </a:br>
            <a:endParaRPr lang="el-GR" dirty="0"/>
          </a:p>
          <a:p>
            <a:r>
              <a:rPr lang="el-GR" b="1" dirty="0"/>
              <a:t>Διαφάνεια 8 · Βήματα 3 και 4, </a:t>
            </a:r>
            <a:r>
              <a:rPr lang="el-GR" b="1" dirty="0" err="1"/>
              <a:t>repo</a:t>
            </a:r>
            <a:r>
              <a:rPr lang="el-GR" b="1" dirty="0"/>
              <a:t> και </a:t>
            </a:r>
            <a:r>
              <a:rPr lang="el-GR" b="1" dirty="0" err="1"/>
              <a:t>push</a:t>
            </a:r>
            <a:r>
              <a:rPr lang="el-GR" b="1" dirty="0"/>
              <a:t> (2:30)</a:t>
            </a:r>
          </a:p>
          <a:p>
            <a:r>
              <a:rPr lang="el-GR" i="1" dirty="0"/>
              <a:t>[Κάνε κάθε βήμα ζωντανά και περίμενε να σε ακολουθήσουν. Εδώ θα κολλήσουν οι περισσότεροι]</a:t>
            </a:r>
            <a:endParaRPr lang="el-GR" dirty="0"/>
          </a:p>
          <a:p>
            <a:r>
              <a:rPr lang="el-GR" dirty="0"/>
              <a:t>«Τώρα το ανεβάζουμε. Στον </a:t>
            </a:r>
            <a:r>
              <a:rPr lang="el-GR" dirty="0" err="1"/>
              <a:t>browser</a:t>
            </a:r>
            <a:r>
              <a:rPr lang="el-GR" dirty="0"/>
              <a:t>, στο github.com. Πατήστε το </a:t>
            </a:r>
            <a:r>
              <a:rPr lang="el-GR" b="1" dirty="0"/>
              <a:t>+</a:t>
            </a:r>
            <a:r>
              <a:rPr lang="el-GR" dirty="0"/>
              <a:t> πάνω δεξιά και μετά </a:t>
            </a:r>
            <a:r>
              <a:rPr lang="el-GR" b="1" dirty="0" err="1"/>
              <a:t>New</a:t>
            </a:r>
            <a:r>
              <a:rPr lang="el-GR" b="1" dirty="0"/>
              <a:t> </a:t>
            </a:r>
            <a:r>
              <a:rPr lang="el-GR" b="1" dirty="0" err="1"/>
              <a:t>repository</a:t>
            </a:r>
            <a:r>
              <a:rPr lang="el-GR" dirty="0"/>
              <a:t>.</a:t>
            </a:r>
          </a:p>
          <a:p>
            <a:r>
              <a:rPr lang="el-GR" dirty="0"/>
              <a:t>Όνομα: </a:t>
            </a:r>
            <a:r>
              <a:rPr lang="el-GR" sz="1200" kern="1200" dirty="0" err="1">
                <a:solidFill>
                  <a:schemeClr val="tx1"/>
                </a:solidFill>
                <a:latin typeface="+mn-lt"/>
                <a:ea typeface="+mn-ea"/>
                <a:cs typeface="+mn-cs"/>
              </a:rPr>
              <a:t>study-copilot</a:t>
            </a:r>
            <a:r>
              <a:rPr lang="el-GR" dirty="0"/>
              <a:t>. Επιλέξτε </a:t>
            </a:r>
            <a:r>
              <a:rPr lang="el-GR" b="1" dirty="0" err="1"/>
              <a:t>Public</a:t>
            </a:r>
            <a:r>
              <a:rPr lang="el-GR" dirty="0"/>
              <a:t>. Και </a:t>
            </a:r>
            <a:r>
              <a:rPr lang="el-GR" b="1" dirty="0"/>
              <a:t>μην</a:t>
            </a:r>
            <a:r>
              <a:rPr lang="el-GR" dirty="0"/>
              <a:t> τσεκάρετε "</a:t>
            </a:r>
            <a:r>
              <a:rPr lang="el-GR" dirty="0" err="1"/>
              <a:t>Add</a:t>
            </a:r>
            <a:r>
              <a:rPr lang="el-GR" dirty="0"/>
              <a:t> a README", γιατί το README το έγραψε ήδη ο </a:t>
            </a:r>
            <a:r>
              <a:rPr lang="el-GR" dirty="0" err="1"/>
              <a:t>agent</a:t>
            </a:r>
            <a:r>
              <a:rPr lang="el-GR" dirty="0"/>
              <a:t>. Πατήστε </a:t>
            </a:r>
            <a:r>
              <a:rPr lang="el-GR" b="1" dirty="0" err="1"/>
              <a:t>Create</a:t>
            </a:r>
            <a:r>
              <a:rPr lang="el-GR" b="1" dirty="0"/>
              <a:t> </a:t>
            </a:r>
            <a:r>
              <a:rPr lang="el-GR" b="1" dirty="0" err="1"/>
              <a:t>repository</a:t>
            </a:r>
            <a:r>
              <a:rPr lang="el-GR" dirty="0"/>
              <a:t>.</a:t>
            </a:r>
          </a:p>
          <a:p>
            <a:r>
              <a:rPr lang="el-GR" dirty="0"/>
              <a:t>Μετά ζητάτε από τον </a:t>
            </a:r>
            <a:r>
              <a:rPr lang="el-GR" dirty="0" err="1"/>
              <a:t>agent</a:t>
            </a:r>
            <a:r>
              <a:rPr lang="el-GR" dirty="0"/>
              <a:t> το </a:t>
            </a:r>
            <a:r>
              <a:rPr lang="el-GR" dirty="0" err="1"/>
              <a:t>push</a:t>
            </a:r>
            <a:r>
              <a:rPr lang="el-GR" dirty="0"/>
              <a:t>, με το δικό σας </a:t>
            </a:r>
            <a:r>
              <a:rPr lang="el-GR" dirty="0" err="1"/>
              <a:t>username</a:t>
            </a:r>
            <a:r>
              <a:rPr lang="el-GR" dirty="0"/>
              <a:t> στη θέση του </a:t>
            </a:r>
            <a:r>
              <a:rPr lang="el-GR" sz="1200" kern="1200" dirty="0">
                <a:solidFill>
                  <a:schemeClr val="tx1"/>
                </a:solidFill>
                <a:latin typeface="+mn-lt"/>
                <a:ea typeface="+mn-ea"/>
                <a:cs typeface="+mn-cs"/>
              </a:rPr>
              <a:t>&lt;</a:t>
            </a:r>
            <a:r>
              <a:rPr lang="el-GR" sz="1200" kern="1200" dirty="0" err="1">
                <a:solidFill>
                  <a:schemeClr val="tx1"/>
                </a:solidFill>
                <a:latin typeface="+mn-lt"/>
                <a:ea typeface="+mn-ea"/>
                <a:cs typeface="+mn-cs"/>
              </a:rPr>
              <a:t>username</a:t>
            </a:r>
            <a:r>
              <a:rPr lang="el-GR" sz="1200" kern="1200" dirty="0">
                <a:solidFill>
                  <a:schemeClr val="tx1"/>
                </a:solidFill>
                <a:latin typeface="+mn-lt"/>
                <a:ea typeface="+mn-ea"/>
                <a:cs typeface="+mn-cs"/>
              </a:rPr>
              <a:t>&gt;</a:t>
            </a:r>
            <a:r>
              <a:rPr lang="el-GR" dirty="0"/>
              <a:t>. Αυτό που κάνει είναι να συνδέσει τον φάκελο του laptop σας με το άδειο </a:t>
            </a:r>
            <a:r>
              <a:rPr lang="el-GR" dirty="0" err="1"/>
              <a:t>repo</a:t>
            </a:r>
            <a:r>
              <a:rPr lang="el-GR" dirty="0"/>
              <a:t> και να ανεβάσει τα αρχεία.</a:t>
            </a:r>
          </a:p>
          <a:p>
            <a:r>
              <a:rPr lang="el-GR" dirty="0"/>
              <a:t>Θα δείτε δύο συνηθισμένα προβλήματα. Πρώτο: το </a:t>
            </a:r>
            <a:r>
              <a:rPr lang="el-GR" dirty="0" err="1"/>
              <a:t>GitHub</a:t>
            </a:r>
            <a:r>
              <a:rPr lang="el-GR" dirty="0"/>
              <a:t> </a:t>
            </a:r>
            <a:r>
              <a:rPr lang="el-GR" b="1" dirty="0"/>
              <a:t>δεν δέχεται πια τον κωδικό του λογαριασμού σας</a:t>
            </a:r>
            <a:r>
              <a:rPr lang="el-GR" dirty="0"/>
              <a:t> για </a:t>
            </a:r>
            <a:r>
              <a:rPr lang="el-GR" dirty="0" err="1"/>
              <a:t>push</a:t>
            </a:r>
            <a:r>
              <a:rPr lang="el-GR" dirty="0"/>
              <a:t>. Συνήθως ανοίγει ένα παράθυρο </a:t>
            </a:r>
            <a:r>
              <a:rPr lang="el-GR" dirty="0" err="1"/>
              <a:t>login</a:t>
            </a:r>
            <a:r>
              <a:rPr lang="el-GR" dirty="0"/>
              <a:t> στον </a:t>
            </a:r>
            <a:r>
              <a:rPr lang="el-GR" dirty="0" err="1"/>
              <a:t>browser</a:t>
            </a:r>
            <a:r>
              <a:rPr lang="el-GR" dirty="0"/>
              <a:t>. Αν δεν ανοίξει, σηκώστε χέρι και θα έρθει </a:t>
            </a:r>
            <a:r>
              <a:rPr lang="el-GR" dirty="0" err="1"/>
              <a:t>helper</a:t>
            </a:r>
            <a:r>
              <a:rPr lang="el-GR" dirty="0"/>
              <a:t>. Δεύτερο: αν δείτε το μήνυμα </a:t>
            </a:r>
            <a:r>
              <a:rPr lang="el-GR" i="1" dirty="0" err="1"/>
              <a:t>remote</a:t>
            </a:r>
            <a:r>
              <a:rPr lang="el-GR" i="1" dirty="0"/>
              <a:t> </a:t>
            </a:r>
            <a:r>
              <a:rPr lang="el-GR" i="1" dirty="0" err="1"/>
              <a:t>origin</a:t>
            </a:r>
            <a:r>
              <a:rPr lang="el-GR" i="1" dirty="0"/>
              <a:t> </a:t>
            </a:r>
            <a:r>
              <a:rPr lang="el-GR" i="1" dirty="0" err="1"/>
              <a:t>already</a:t>
            </a:r>
            <a:r>
              <a:rPr lang="el-GR" i="1" dirty="0"/>
              <a:t> </a:t>
            </a:r>
            <a:r>
              <a:rPr lang="el-GR" i="1" dirty="0" err="1"/>
              <a:t>exists</a:t>
            </a:r>
            <a:r>
              <a:rPr lang="el-GR" dirty="0"/>
              <a:t>, είναι γιατί κάνατε </a:t>
            </a:r>
            <a:r>
              <a:rPr lang="el-GR" dirty="0" err="1"/>
              <a:t>clone</a:t>
            </a:r>
            <a:r>
              <a:rPr lang="el-GR" dirty="0"/>
              <a:t> το </a:t>
            </a:r>
            <a:r>
              <a:rPr lang="el-GR" dirty="0" err="1"/>
              <a:t>starter</a:t>
            </a:r>
            <a:r>
              <a:rPr lang="el-GR" dirty="0"/>
              <a:t> </a:t>
            </a:r>
            <a:r>
              <a:rPr lang="el-GR" dirty="0" err="1"/>
              <a:t>repo</a:t>
            </a:r>
            <a:r>
              <a:rPr lang="el-GR" dirty="0"/>
              <a:t>. Ο </a:t>
            </a:r>
            <a:r>
              <a:rPr lang="el-GR" dirty="0" err="1"/>
              <a:t>helper</a:t>
            </a:r>
            <a:r>
              <a:rPr lang="el-GR" dirty="0"/>
              <a:t> θα σας δώσει μία εντολή που το διορθώνει.</a:t>
            </a:r>
          </a:p>
          <a:p>
            <a:r>
              <a:rPr lang="el-GR" dirty="0"/>
              <a:t>Όταν τελειώσετε, </a:t>
            </a:r>
            <a:r>
              <a:rPr lang="el-GR" b="1" dirty="0"/>
              <a:t>ανοίξτε το </a:t>
            </a:r>
            <a:r>
              <a:rPr lang="el-GR" b="1" dirty="0" err="1"/>
              <a:t>repo</a:t>
            </a:r>
            <a:r>
              <a:rPr lang="el-GR" b="1" dirty="0"/>
              <a:t> από το κινητό σας</a:t>
            </a:r>
            <a:r>
              <a:rPr lang="el-GR" dirty="0"/>
              <a:t>. Αυτό που βλέπετε εκεί, το βλέπει ολόκληρος ο κόσμος. Αν δείτε το README με το GIF, το κάνατε.»</a:t>
            </a:r>
          </a:p>
          <a:p>
            <a:r>
              <a:rPr lang="el-GR" i="1" dirty="0"/>
              <a:t>[Αν πολλοί κολλήσουν στο </a:t>
            </a:r>
            <a:r>
              <a:rPr lang="el-GR" i="1" dirty="0" err="1"/>
              <a:t>login</a:t>
            </a:r>
            <a:r>
              <a:rPr lang="el-GR" i="1" dirty="0"/>
              <a:t>: κάνε εσύ το </a:t>
            </a:r>
            <a:r>
              <a:rPr lang="el-GR" i="1" dirty="0" err="1"/>
              <a:t>push</a:t>
            </a:r>
            <a:r>
              <a:rPr lang="el-GR" i="1" dirty="0"/>
              <a:t> ως demo και πες «θα το ολοκληρώσετε στο σπίτι, είναι στο </a:t>
            </a:r>
            <a:r>
              <a:rPr lang="el-GR" i="1" dirty="0" err="1"/>
              <a:t>homework</a:t>
            </a:r>
            <a:r>
              <a:rPr lang="el-GR" i="1" dirty="0"/>
              <a:t>»]</a:t>
            </a:r>
            <a:endParaRPr lang="el-GR" dirty="0"/>
          </a:p>
          <a:p>
            <a:br>
              <a:rPr lang="el-GR" dirty="0"/>
            </a:br>
            <a:endParaRPr lang="el-GR" dirty="0"/>
          </a:p>
          <a:p>
            <a:r>
              <a:rPr lang="el-GR" b="1" dirty="0"/>
              <a:t>Διαφάνεια 9 · Γεύση αυτοματισμού (2:00)</a:t>
            </a:r>
            <a:r>
              <a:rPr lang="el-GR" dirty="0"/>
              <a:t> </a:t>
            </a:r>
            <a:br>
              <a:rPr lang="en-US" dirty="0"/>
            </a:br>
            <a:br>
              <a:rPr lang="el-GR" dirty="0"/>
            </a:br>
            <a:br>
              <a:rPr lang="el-GR" dirty="0"/>
            </a:br>
            <a:endParaRPr lang="el-GR" dirty="0"/>
          </a:p>
          <a:p>
            <a:r>
              <a:rPr lang="el-GR" b="1" dirty="0"/>
              <a:t>Διαφάνεια 11 · </a:t>
            </a:r>
            <a:r>
              <a:rPr lang="el-GR" b="1" dirty="0" err="1"/>
              <a:t>Checkpoint</a:t>
            </a:r>
            <a:r>
              <a:rPr lang="el-GR" b="1" dirty="0"/>
              <a:t> και κλείσιμο (1:00)</a:t>
            </a:r>
          </a:p>
          <a:p>
            <a:r>
              <a:rPr lang="el-GR" dirty="0"/>
              <a:t>«Το </a:t>
            </a:r>
            <a:r>
              <a:rPr lang="el-GR" dirty="0" err="1"/>
              <a:t>checkpoint</a:t>
            </a:r>
            <a:r>
              <a:rPr lang="el-GR" dirty="0"/>
              <a:t> έχει δύο σημεία, και οι </a:t>
            </a:r>
            <a:r>
              <a:rPr lang="el-GR" dirty="0" err="1"/>
              <a:t>helpers</a:t>
            </a:r>
            <a:r>
              <a:rPr lang="el-GR" dirty="0"/>
              <a:t> θα τα ελέγξουν. Πρώτο: δημόσιο </a:t>
            </a:r>
            <a:r>
              <a:rPr lang="el-GR" dirty="0" err="1"/>
              <a:t>repo</a:t>
            </a:r>
            <a:r>
              <a:rPr lang="el-GR" dirty="0"/>
              <a:t> με README και GIF, που ανοίγει από το κινητό. Δεύτερο: </a:t>
            </a:r>
            <a:r>
              <a:rPr lang="el-GR" b="1" dirty="0"/>
              <a:t>κανένα κλειδί μέσα στο </a:t>
            </a:r>
            <a:r>
              <a:rPr lang="el-GR" b="1" dirty="0" err="1"/>
              <a:t>repo</a:t>
            </a:r>
            <a:r>
              <a:rPr lang="el-GR" dirty="0"/>
              <a:t>.</a:t>
            </a:r>
          </a:p>
          <a:p>
            <a:r>
              <a:rPr lang="el-GR" dirty="0"/>
              <a:t>Όποιος τελείωσε νωρίτερα έχει </a:t>
            </a:r>
            <a:r>
              <a:rPr lang="el-GR" dirty="0" err="1"/>
              <a:t>Boss</a:t>
            </a:r>
            <a:r>
              <a:rPr lang="el-GR" dirty="0"/>
              <a:t> </a:t>
            </a:r>
            <a:r>
              <a:rPr lang="el-GR" dirty="0" err="1"/>
              <a:t>level</a:t>
            </a:r>
            <a:r>
              <a:rPr lang="el-GR" dirty="0"/>
              <a:t>: </a:t>
            </a:r>
            <a:r>
              <a:rPr lang="el-GR" dirty="0" err="1"/>
              <a:t>GitHub</a:t>
            </a:r>
            <a:r>
              <a:rPr lang="el-GR" dirty="0"/>
              <a:t> </a:t>
            </a:r>
            <a:r>
              <a:rPr lang="el-GR" dirty="0" err="1"/>
              <a:t>Actions</a:t>
            </a:r>
            <a:r>
              <a:rPr lang="el-GR" dirty="0"/>
              <a:t> που τρέχουν τα </a:t>
            </a:r>
            <a:r>
              <a:rPr lang="el-GR" dirty="0" err="1"/>
              <a:t>tests</a:t>
            </a:r>
            <a:r>
              <a:rPr lang="el-GR" dirty="0"/>
              <a:t> σε κάθε </a:t>
            </a:r>
            <a:r>
              <a:rPr lang="el-GR" dirty="0" err="1"/>
              <a:t>push</a:t>
            </a:r>
            <a:r>
              <a:rPr lang="el-GR" dirty="0"/>
              <a:t> και βάζουν ένα </a:t>
            </a:r>
            <a:r>
              <a:rPr lang="el-GR" dirty="0" err="1"/>
              <a:t>badge</a:t>
            </a:r>
            <a:r>
              <a:rPr lang="el-GR" dirty="0"/>
              <a:t> στο README, δωρεάν για δημόσια </a:t>
            </a:r>
            <a:r>
              <a:rPr lang="el-GR" dirty="0" err="1"/>
              <a:t>repos</a:t>
            </a:r>
            <a:r>
              <a:rPr lang="el-GR" dirty="0"/>
              <a:t>.</a:t>
            </a:r>
          </a:p>
          <a:p>
            <a:r>
              <a:rPr lang="el-GR" dirty="0"/>
              <a:t>Και για το σπίτι, τρία σκαλοπάτια. Βάλτε μέσα τα μαθήματα της εξεταστικής σας. Προσθέστε ένα δικό σας </a:t>
            </a:r>
            <a:r>
              <a:rPr lang="el-GR" dirty="0" err="1"/>
              <a:t>study</a:t>
            </a:r>
            <a:r>
              <a:rPr lang="el-GR" dirty="0"/>
              <a:t> </a:t>
            </a:r>
            <a:r>
              <a:rPr lang="el-GR" dirty="0" err="1"/>
              <a:t>mode</a:t>
            </a:r>
            <a:r>
              <a:rPr lang="el-GR" dirty="0"/>
              <a:t>. Και ανεβάστε το </a:t>
            </a:r>
            <a:r>
              <a:rPr lang="el-GR" dirty="0" err="1"/>
              <a:t>link</a:t>
            </a:r>
            <a:r>
              <a:rPr lang="el-GR" dirty="0"/>
              <a:t> του </a:t>
            </a:r>
            <a:r>
              <a:rPr lang="el-GR" dirty="0" err="1"/>
              <a:t>repo</a:t>
            </a:r>
            <a:r>
              <a:rPr lang="el-GR" dirty="0"/>
              <a:t> στο LinkedIn με το </a:t>
            </a:r>
            <a:r>
              <a:rPr lang="el-GR" b="1" dirty="0"/>
              <a:t>#GDGOnCampus</a:t>
            </a:r>
            <a:r>
              <a:rPr lang="el-GR" dirty="0"/>
              <a:t>.</a:t>
            </a:r>
          </a:p>
          <a:p>
            <a:r>
              <a:rPr lang="el-GR" dirty="0"/>
              <a:t>Θυμηθείτε τι κάναμε σήμερα: ένα </a:t>
            </a:r>
            <a:r>
              <a:rPr lang="el-GR" dirty="0" err="1"/>
              <a:t>project</a:t>
            </a:r>
            <a:r>
              <a:rPr lang="el-GR" dirty="0"/>
              <a:t> που δουλεύει, ιδιωτικό όπου χρειάζεται, ανοιχτό σε κάθε </a:t>
            </a:r>
            <a:r>
              <a:rPr lang="el-GR" dirty="0" err="1"/>
              <a:t>agent</a:t>
            </a:r>
            <a:r>
              <a:rPr lang="el-GR" dirty="0"/>
              <a:t>, και τώρα δημόσιο. </a:t>
            </a:r>
            <a:r>
              <a:rPr lang="el-GR" b="1" dirty="0"/>
              <a:t>0 ευρώ: χωρίς κάρτα, χωρίς </a:t>
            </a:r>
            <a:r>
              <a:rPr lang="el-GR" b="1" dirty="0" err="1"/>
              <a:t>cloud</a:t>
            </a:r>
            <a:r>
              <a:rPr lang="el-GR" b="1" dirty="0"/>
              <a:t>.</a:t>
            </a:r>
            <a:r>
              <a:rPr lang="el-GR" dirty="0"/>
              <a:t> Ευχαριστώ!»</a:t>
            </a:r>
          </a:p>
          <a:p>
            <a:r>
              <a:rPr lang="el-GR" i="1" dirty="0"/>
              <a:t>[Γέφυρα προς το </a:t>
            </a:r>
            <a:r>
              <a:rPr lang="el-GR" i="1" dirty="0" err="1"/>
              <a:t>extra</a:t>
            </a:r>
            <a:r>
              <a:rPr lang="el-GR" i="1" dirty="0"/>
              <a:t> demo: «Και πριν φύγουμε, ένα μικρό δώρο: θα δείτε τον ίδιο </a:t>
            </a:r>
            <a:r>
              <a:rPr lang="el-GR" i="1" dirty="0" err="1"/>
              <a:t>server</a:t>
            </a:r>
            <a:r>
              <a:rPr lang="el-GR" i="1" dirty="0"/>
              <a:t> να δουλεύει και στο </a:t>
            </a:r>
            <a:r>
              <a:rPr lang="el-GR" i="1" dirty="0" err="1"/>
              <a:t>Claude</a:t>
            </a:r>
            <a:r>
              <a:rPr lang="el-GR" i="1" dirty="0"/>
              <a:t>.»]</a:t>
            </a:r>
            <a:endParaRPr lang="el-GR" dirty="0"/>
          </a:p>
          <a:p>
            <a:br>
              <a:rPr lang="el-GR" dirty="0"/>
            </a:br>
            <a:endParaRPr lang="el-GR" dirty="0"/>
          </a:p>
          <a:p>
            <a:r>
              <a:rPr lang="el-GR" b="1" dirty="0"/>
              <a:t>Έτοιμες απαντήσεις για ερωτήσεις</a:t>
            </a:r>
          </a:p>
          <a:p>
            <a:pPr lvl="0"/>
            <a:r>
              <a:rPr lang="el-GR" b="1" dirty="0"/>
              <a:t>«Πρέπει να είναι </a:t>
            </a:r>
            <a:r>
              <a:rPr lang="el-GR" b="1" dirty="0" err="1"/>
              <a:t>public</a:t>
            </a:r>
            <a:r>
              <a:rPr lang="el-GR" b="1" dirty="0"/>
              <a:t>;»</a:t>
            </a:r>
            <a:r>
              <a:rPr lang="el-GR" dirty="0"/>
              <a:t> «Για το CV, ναι. Αν θες κάτι προσωπικό, το κάνεις </a:t>
            </a:r>
            <a:r>
              <a:rPr lang="el-GR" dirty="0" err="1"/>
              <a:t>private</a:t>
            </a:r>
            <a:r>
              <a:rPr lang="el-GR" dirty="0"/>
              <a:t>, αλλά τότε δεν το βλέπει κανείς άλλος.»</a:t>
            </a:r>
          </a:p>
          <a:p>
            <a:pPr lvl="0"/>
            <a:r>
              <a:rPr lang="el-GR" b="1" dirty="0"/>
              <a:t>«Μπορεί να το τρέξει κάποιος </a:t>
            </a:r>
            <a:r>
              <a:rPr lang="el-GR" b="1" dirty="0" err="1"/>
              <a:t>online</a:t>
            </a:r>
            <a:r>
              <a:rPr lang="el-GR" b="1" dirty="0"/>
              <a:t>;»</a:t>
            </a:r>
            <a:r>
              <a:rPr lang="el-GR" dirty="0"/>
              <a:t> «Σήμερα όχι: το </a:t>
            </a:r>
            <a:r>
              <a:rPr lang="el-GR" dirty="0" err="1"/>
              <a:t>cloud</a:t>
            </a:r>
            <a:r>
              <a:rPr lang="el-GR" dirty="0"/>
              <a:t> </a:t>
            </a:r>
            <a:r>
              <a:rPr lang="el-GR" dirty="0" err="1"/>
              <a:t>hosting</a:t>
            </a:r>
            <a:r>
              <a:rPr lang="el-GR" dirty="0"/>
              <a:t> θέλει κάρτα. Όποιος δει το </a:t>
            </a:r>
            <a:r>
              <a:rPr lang="el-GR" dirty="0" err="1"/>
              <a:t>repo</a:t>
            </a:r>
            <a:r>
              <a:rPr lang="el-GR" dirty="0"/>
              <a:t> το τρέχει στο δικό του laptop.»</a:t>
            </a:r>
          </a:p>
          <a:p>
            <a:pPr lvl="0"/>
            <a:r>
              <a:rPr lang="el-GR" b="1" dirty="0"/>
              <a:t>«Μπορώ να ανεβάσω τις διαφάνειες του καθηγητή μου;»</a:t>
            </a:r>
            <a:r>
              <a:rPr lang="el-GR" dirty="0"/>
              <a:t> «Όχι. Δεν είναι δικές σας, άρα δεν τις βάζετε σε δημόσιο </a:t>
            </a:r>
            <a:r>
              <a:rPr lang="el-GR" dirty="0" err="1"/>
              <a:t>repo</a:t>
            </a:r>
            <a:r>
              <a:rPr lang="el-GR" dirty="0"/>
              <a:t>. Τα PDF του </a:t>
            </a:r>
            <a:r>
              <a:rPr lang="el-GR" dirty="0" err="1"/>
              <a:t>starter</a:t>
            </a:r>
            <a:r>
              <a:rPr lang="el-GR" dirty="0"/>
              <a:t> </a:t>
            </a:r>
            <a:r>
              <a:rPr lang="el-GR" dirty="0" err="1"/>
              <a:t>repo</a:t>
            </a:r>
            <a:r>
              <a:rPr lang="el-GR" dirty="0"/>
              <a:t> είναι δικά μας, με άδεια CC BY.»</a:t>
            </a:r>
          </a:p>
          <a:p>
            <a:pPr lvl="0"/>
            <a:r>
              <a:rPr lang="el-GR" b="1" dirty="0"/>
              <a:t>«Το όνομά μου φαίνεται στα </a:t>
            </a:r>
            <a:r>
              <a:rPr lang="el-GR" b="1" dirty="0" err="1"/>
              <a:t>commits</a:t>
            </a:r>
            <a:r>
              <a:rPr lang="el-GR" b="1" dirty="0"/>
              <a:t>;»</a:t>
            </a:r>
            <a:r>
              <a:rPr lang="el-GR" dirty="0"/>
              <a:t> «Ναι, και το email. Το </a:t>
            </a:r>
            <a:r>
              <a:rPr lang="el-GR" dirty="0" err="1"/>
              <a:t>GitHub</a:t>
            </a:r>
            <a:r>
              <a:rPr lang="el-GR" dirty="0"/>
              <a:t> έχει επιλογή "</a:t>
            </a:r>
            <a:r>
              <a:rPr lang="el-GR" dirty="0" err="1"/>
              <a:t>noreply</a:t>
            </a:r>
            <a:r>
              <a:rPr lang="el-GR" dirty="0"/>
              <a:t>" email στις ρυθμίσεις του.»</a:t>
            </a:r>
          </a:p>
          <a:p>
            <a:pPr lvl="0"/>
            <a:r>
              <a:rPr lang="el-GR" b="1" dirty="0"/>
              <a:t>Αν δεν ξέρεις κάτι:</a:t>
            </a:r>
            <a:r>
              <a:rPr lang="el-GR" dirty="0"/>
              <a:t> «Καλή ερώτηση, ας το δούμε μαζί με έναν </a:t>
            </a:r>
            <a:r>
              <a:rPr lang="el-GR" dirty="0" err="1"/>
              <a:t>helper</a:t>
            </a:r>
            <a:r>
              <a:rPr lang="el-GR" dirty="0"/>
              <a:t> στο διάλειμμα.»</a:t>
            </a:r>
          </a:p>
        </p:txBody>
      </p:sp>
    </p:spTree>
    <p:extLst>
      <p:ext uri="{BB962C8B-B14F-4D97-AF65-F5344CB8AC3E}">
        <p14:creationId xmlns:p14="http://schemas.microsoft.com/office/powerpoint/2010/main" val="2612876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chemeClr val="accent1"/>
          </a:solidFill>
          <a:ln/>
        </p:spPr>
      </p:sp>
      <p:sp>
        <p:nvSpPr>
          <p:cNvPr id="3" name="Text 1"/>
          <p:cNvSpPr/>
          <p:nvPr/>
        </p:nvSpPr>
        <p:spPr>
          <a:xfrm>
            <a:off x="457200" y="4754880"/>
            <a:ext cx="5486400" cy="274320"/>
          </a:xfrm>
          <a:prstGeom prst="rect">
            <a:avLst/>
          </a:prstGeom>
          <a:noFill/>
          <a:ln/>
        </p:spPr>
        <p:txBody>
          <a:bodyPr wrap="square" lIns="0" tIns="0" rIns="0" bIns="0" rtlCol="0" anchor="ctr"/>
          <a:lstStyle/>
          <a:p>
            <a:pPr marL="0" indent="0">
              <a:buNone/>
            </a:pPr>
            <a:r>
              <a:rPr lang="en-US" sz="900" dirty="0">
                <a:solidFill>
                  <a:schemeClr val="tx2"/>
                </a:solidFill>
              </a:rPr>
              <a:t>GDG on Campus AUTH · Antigravity 101</a:t>
            </a:r>
            <a:endParaRPr lang="en-US" sz="9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D427"/>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3657600" cy="365760"/>
          </a:xfrm>
          <a:prstGeom prst="rect">
            <a:avLst/>
          </a:prstGeom>
          <a:solidFill>
            <a:schemeClr val="bg1"/>
          </a:solidFill>
          <a:ln w="12700">
            <a:solidFill>
              <a:schemeClr val="tx1"/>
            </a:solidFill>
          </a:ln>
        </p:spPr>
        <p:txBody>
          <a:bodyPr wrap="square" rtlCol="0" anchor="ctr"/>
          <a:lstStyle/>
          <a:p>
            <a:pPr marL="0" indent="0" algn="ctr">
              <a:buNone/>
            </a:pPr>
            <a:r>
              <a:rPr lang="en-US" sz="1400" dirty="0">
                <a:solidFill>
                  <a:schemeClr val="tx1"/>
                </a:solidFill>
              </a:rPr>
              <a:t>Μέρος 6 · 15′ · Hands-on</a:t>
            </a:r>
            <a:endParaRPr lang="en-US" sz="1400" dirty="0"/>
          </a:p>
        </p:txBody>
      </p:sp>
      <p:sp>
        <p:nvSpPr>
          <p:cNvPr id="3" name="Title"/>
          <p:cNvSpPr txBox="1"/>
          <p:nvPr/>
        </p:nvSpPr>
        <p:spPr>
          <a:xfrm>
            <a:off x="548640" y="1371600"/>
            <a:ext cx="7772400" cy="1280160"/>
          </a:xfrm>
          <a:prstGeom prst="rect">
            <a:avLst/>
          </a:prstGeom>
          <a:noFill/>
          <a:ln/>
        </p:spPr>
        <p:txBody>
          <a:bodyPr wrap="square" lIns="0" tIns="0" rIns="0" bIns="0" rtlCol="0" anchor="ctr"/>
          <a:lstStyle/>
          <a:p>
            <a:pPr marL="0" indent="0">
              <a:buNone/>
            </a:pPr>
            <a:r>
              <a:rPr lang="en-US" sz="7200" b="1" dirty="0">
                <a:solidFill>
                  <a:schemeClr val="tx1"/>
                </a:solidFill>
              </a:rPr>
              <a:t>Ship it</a:t>
            </a:r>
            <a:endParaRPr lang="en-US" sz="7200" dirty="0"/>
          </a:p>
        </p:txBody>
      </p:sp>
      <p:sp>
        <p:nvSpPr>
          <p:cNvPr id="4" name="Text 2"/>
          <p:cNvSpPr txBox="1"/>
          <p:nvPr/>
        </p:nvSpPr>
        <p:spPr>
          <a:xfrm>
            <a:off x="548640" y="2834640"/>
            <a:ext cx="7315200" cy="822960"/>
          </a:xfrm>
          <a:prstGeom prst="rect">
            <a:avLst/>
          </a:prstGeom>
          <a:noFill/>
          <a:ln/>
        </p:spPr>
        <p:txBody>
          <a:bodyPr wrap="square" lIns="0" tIns="0" rIns="0" bIns="0" rtlCol="0" anchor="ctr"/>
          <a:lstStyle/>
          <a:p>
            <a:pPr marL="0" indent="0">
              <a:buNone/>
            </a:pPr>
            <a:r>
              <a:rPr lang="en-US" sz="2400" dirty="0">
                <a:solidFill>
                  <a:schemeClr val="tx1"/>
                </a:solidFill>
              </a:rPr>
              <a:t>Από το laptop στον κόσμο, δωρεάν, χωρίς το μυστικό κλειδί σου</a:t>
            </a:r>
            <a:endParaRPr lang="en-US" sz="2400" dirty="0"/>
          </a:p>
        </p:txBody>
      </p:sp>
      <p:sp>
        <p:nvSpPr>
          <p:cNvPr id="5" name="Text 3"/>
          <p:cNvSpPr txBox="1"/>
          <p:nvPr/>
        </p:nvSpPr>
        <p:spPr>
          <a:xfrm>
            <a:off x="548640" y="4480560"/>
            <a:ext cx="5486400" cy="274320"/>
          </a:xfrm>
          <a:prstGeom prst="rect">
            <a:avLst/>
          </a:prstGeom>
          <a:noFill/>
          <a:ln/>
        </p:spPr>
        <p:txBody>
          <a:bodyPr wrap="square" lIns="0" tIns="0" rIns="0" bIns="0" rtlCol="0" anchor="ctr"/>
          <a:lstStyle/>
          <a:p>
            <a:pPr marL="0" indent="0">
              <a:buNone/>
            </a:pPr>
            <a:r>
              <a:rPr lang="en-US" sz="1200" dirty="0">
                <a:solidFill>
                  <a:schemeClr val="tx1"/>
                </a:solidFill>
              </a:rPr>
              <a:t>GDG on Campus AUTH · Antigravity 101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Γιατί το κάνουμε</a:t>
            </a:r>
            <a:endParaRPr lang="en-US" sz="2600" dirty="0"/>
          </a:p>
        </p:txBody>
      </p:sp>
      <p:sp>
        <p:nvSpPr>
          <p:cNvPr id="4" name="why1"/>
          <p:cNvSpPr/>
          <p:nvPr/>
        </p:nvSpPr>
        <p:spPr>
          <a:xfrm>
            <a:off x="457200" y="1280160"/>
            <a:ext cx="2560320" cy="2377440"/>
          </a:xfrm>
          <a:prstGeom prst="roundRect">
            <a:avLst>
              <a:gd name="adj" fmla="val 3846"/>
            </a:avLst>
          </a:prstGeom>
          <a:solidFill>
            <a:schemeClr val="accent2"/>
          </a:solidFill>
          <a:ln w="12700">
            <a:solidFill>
              <a:schemeClr val="tx1"/>
            </a:solidFill>
            <a:prstDash val="solid"/>
          </a:ln>
        </p:spPr>
        <p:txBody>
          <a:bodyPr/>
          <a:lstStyle/>
          <a:p>
            <a:endParaRPr lang="el-GR"/>
          </a:p>
        </p:txBody>
      </p:sp>
      <p:sp>
        <p:nvSpPr>
          <p:cNvPr id="5" name="why1 text"/>
          <p:cNvSpPr txBox="1"/>
          <p:nvPr/>
        </p:nvSpPr>
        <p:spPr>
          <a:xfrm>
            <a:off x="594360" y="1371600"/>
            <a:ext cx="2286000" cy="2194560"/>
          </a:xfrm>
          <a:prstGeom prst="rect">
            <a:avLst/>
          </a:prstGeom>
          <a:noFill/>
          <a:ln/>
        </p:spPr>
        <p:txBody>
          <a:bodyPr wrap="square" lIns="0" tIns="0" rIns="0" bIns="0" rtlCol="0" anchor="t"/>
          <a:lstStyle/>
          <a:p>
            <a:pPr marL="0" indent="0">
              <a:buNone/>
            </a:pPr>
            <a:r>
              <a:rPr lang="en-US" sz="1500" b="1" dirty="0">
                <a:solidFill>
                  <a:schemeClr val="tx1"/>
                </a:solidFill>
              </a:rPr>
              <a:t>Για το CV</a:t>
            </a:r>
            <a:endParaRPr lang="en-US" sz="1500" dirty="0"/>
          </a:p>
          <a:p>
            <a:pPr marL="0" indent="0">
              <a:buNone/>
            </a:pPr>
            <a:r>
              <a:rPr lang="en-US" sz="1400" dirty="0">
                <a:solidFill>
                  <a:schemeClr val="tx1"/>
                </a:solidFill>
              </a:rPr>
              <a:t>Ένα link που δείχνει το project να δουλεύει, όχι απλά «ξέρω Python».</a:t>
            </a:r>
            <a:endParaRPr lang="en-US" sz="1500" dirty="0"/>
          </a:p>
        </p:txBody>
      </p:sp>
      <p:sp>
        <p:nvSpPr>
          <p:cNvPr id="6" name="why2"/>
          <p:cNvSpPr/>
          <p:nvPr/>
        </p:nvSpPr>
        <p:spPr>
          <a:xfrm>
            <a:off x="3291840" y="1280160"/>
            <a:ext cx="2560320" cy="2377440"/>
          </a:xfrm>
          <a:prstGeom prst="roundRect">
            <a:avLst>
              <a:gd name="adj" fmla="val 3846"/>
            </a:avLst>
          </a:prstGeom>
          <a:solidFill>
            <a:schemeClr val="accent3"/>
          </a:solidFill>
          <a:ln w="12700">
            <a:solidFill>
              <a:schemeClr val="tx1"/>
            </a:solidFill>
            <a:prstDash val="solid"/>
          </a:ln>
        </p:spPr>
        <p:txBody>
          <a:bodyPr/>
          <a:lstStyle/>
          <a:p>
            <a:endParaRPr lang="el-GR"/>
          </a:p>
        </p:txBody>
      </p:sp>
      <p:sp>
        <p:nvSpPr>
          <p:cNvPr id="7" name="why2 text"/>
          <p:cNvSpPr txBox="1"/>
          <p:nvPr/>
        </p:nvSpPr>
        <p:spPr>
          <a:xfrm>
            <a:off x="3429000" y="1371600"/>
            <a:ext cx="2286000" cy="2194560"/>
          </a:xfrm>
          <a:prstGeom prst="rect">
            <a:avLst/>
          </a:prstGeom>
          <a:noFill/>
          <a:ln/>
        </p:spPr>
        <p:txBody>
          <a:bodyPr wrap="square" lIns="0" tIns="0" rIns="0" bIns="0" rtlCol="0" anchor="t"/>
          <a:lstStyle/>
          <a:p>
            <a:pPr marL="0" indent="0">
              <a:buNone/>
            </a:pPr>
            <a:r>
              <a:rPr lang="en-US" sz="1500" b="1" dirty="0">
                <a:solidFill>
                  <a:schemeClr val="tx1"/>
                </a:solidFill>
              </a:rPr>
              <a:t>0 €</a:t>
            </a:r>
            <a:endParaRPr lang="en-US" sz="1500" dirty="0"/>
          </a:p>
          <a:p>
            <a:pPr marL="0" indent="0">
              <a:buNone/>
            </a:pPr>
            <a:r>
              <a:rPr lang="en-US" sz="1400" dirty="0">
                <a:solidFill>
                  <a:schemeClr val="tx1"/>
                </a:solidFill>
              </a:rPr>
              <a:t>Χωρίς κάρτα, χωρίς cloud. Δημόσιο repo με README και GIF.</a:t>
            </a:r>
            <a:endParaRPr lang="en-US" sz="1500" dirty="0"/>
          </a:p>
        </p:txBody>
      </p:sp>
      <p:sp>
        <p:nvSpPr>
          <p:cNvPr id="8" name="why3"/>
          <p:cNvSpPr/>
          <p:nvPr/>
        </p:nvSpPr>
        <p:spPr>
          <a:xfrm>
            <a:off x="6126480" y="1280160"/>
            <a:ext cx="2560320" cy="2377440"/>
          </a:xfrm>
          <a:prstGeom prst="roundRect">
            <a:avLst>
              <a:gd name="adj" fmla="val 3846"/>
            </a:avLst>
          </a:prstGeom>
          <a:solidFill>
            <a:schemeClr val="accent4"/>
          </a:solidFill>
          <a:ln w="12700">
            <a:solidFill>
              <a:schemeClr val="tx1"/>
            </a:solidFill>
            <a:prstDash val="solid"/>
          </a:ln>
        </p:spPr>
        <p:txBody>
          <a:bodyPr/>
          <a:lstStyle/>
          <a:p>
            <a:endParaRPr lang="el-GR"/>
          </a:p>
        </p:txBody>
      </p:sp>
      <p:sp>
        <p:nvSpPr>
          <p:cNvPr id="9" name="why3 text"/>
          <p:cNvSpPr txBox="1"/>
          <p:nvPr/>
        </p:nvSpPr>
        <p:spPr>
          <a:xfrm>
            <a:off x="6263640" y="1371600"/>
            <a:ext cx="2286000" cy="2194560"/>
          </a:xfrm>
          <a:prstGeom prst="rect">
            <a:avLst/>
          </a:prstGeom>
          <a:noFill/>
          <a:ln/>
        </p:spPr>
        <p:txBody>
          <a:bodyPr wrap="square" lIns="0" tIns="0" rIns="0" bIns="0" rtlCol="0" anchor="t"/>
          <a:lstStyle/>
          <a:p>
            <a:pPr marL="0" indent="0">
              <a:buNone/>
            </a:pPr>
            <a:r>
              <a:rPr lang="en-US" sz="1500" b="1" dirty="0">
                <a:solidFill>
                  <a:schemeClr val="tx1"/>
                </a:solidFill>
              </a:rPr>
              <a:t>Τρέχει από όλους</a:t>
            </a:r>
            <a:endParaRPr lang="en-US" sz="1500" dirty="0"/>
          </a:p>
          <a:p>
            <a:pPr marL="0" indent="0">
              <a:buNone/>
            </a:pPr>
            <a:r>
              <a:rPr lang="en-US" sz="1400" dirty="0">
                <a:solidFill>
                  <a:schemeClr val="tx1"/>
                </a:solidFill>
              </a:rPr>
              <a:t>Όποιος δει το repo το τρέχει με δικό του δωρεάν κλειδί ή offline με Gemma.</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Οι λέξεις, με απλά λόγια</a:t>
            </a:r>
            <a:endParaRPr lang="en-US" sz="2600" dirty="0"/>
          </a:p>
        </p:txBody>
      </p:sp>
      <p:graphicFrame>
        <p:nvGraphicFramePr>
          <p:cNvPr id="4" name="Vocabulary"/>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287524"/>
        </p:xfrm>
        <a:graphic>
          <a:graphicData uri="http://schemas.openxmlformats.org/drawingml/2006/table">
            <a:tbl>
              <a:tblPr/>
              <a:tblGrid>
                <a:gridCol w="146304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0">
                <a:tc>
                  <a:txBody>
                    <a:bodyPr/>
                    <a:lstStyle/>
                    <a:p>
                      <a:pPr marL="0" indent="0">
                        <a:buNone/>
                      </a:pPr>
                      <a:r>
                        <a:rPr lang="en-US" sz="1200" b="1" dirty="0">
                          <a:solidFill>
                            <a:schemeClr val="tx1"/>
                          </a:solidFill>
                        </a:rPr>
                        <a:t>Λέξη</a:t>
                      </a:r>
                      <a:endParaRPr lang="en-US" sz="120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tx1"/>
                          </a:solidFill>
                        </a:rPr>
                        <a:t>Τι σημαίνει</a:t>
                      </a:r>
                      <a:endParaRPr lang="en-US" sz="120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0">
                <a:tc>
                  <a:txBody>
                    <a:bodyPr/>
                    <a:lstStyle/>
                    <a:p>
                      <a:pPr marL="0" indent="0">
                        <a:buNone/>
                      </a:pPr>
                      <a:r>
                        <a:rPr lang="en-US" sz="1150" b="1" dirty="0">
                          <a:solidFill>
                            <a:schemeClr val="tx1"/>
                          </a:solidFill>
                        </a:rPr>
                        <a:t>Git</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Κρατάει ιστορικό του project, σαν το Track Changes του Word</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50" b="1" dirty="0">
                          <a:solidFill>
                            <a:schemeClr val="tx1"/>
                          </a:solidFill>
                        </a:rPr>
                        <a:t>GitHub</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Ιστοσελίδα που αποθηκεύει Git projects online: η βιτρίνα σου</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50" b="1" dirty="0">
                          <a:solidFill>
                            <a:schemeClr val="tx1"/>
                          </a:solidFill>
                        </a:rPr>
                        <a:t>Repo</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Ένας φάκελος project που τον κρατάει το Git</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50" b="1" dirty="0">
                          <a:solidFill>
                            <a:schemeClr val="tx1"/>
                          </a:solidFill>
                        </a:rPr>
                        <a:t>README</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Η πρώτη σελίδα: τι κάνει και πώς το τρέχεις</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150" b="1" dirty="0">
                          <a:solidFill>
                            <a:schemeClr val="tx1"/>
                          </a:solidFill>
                        </a:rPr>
                        <a:t>GIF</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Μικρό βίντεο που δείχνει το app να δουλεύει</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150" b="1" dirty="0">
                          <a:solidFill>
                            <a:schemeClr val="tx1"/>
                          </a:solidFill>
                        </a:rPr>
                        <a:t>Push</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Ανεβάζω το project από το laptop στο GitHub</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150" b="1" dirty="0">
                          <a:solidFill>
                            <a:schemeClr val="tx1"/>
                          </a:solidFill>
                        </a:rPr>
                        <a:t>Origin</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Η διεύθυνση GitHub στην οποία ανεβάζει το laptop</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Δύο πράγματα μένουν μόνο στο laptop σου</a:t>
            </a:r>
            <a:endParaRPr lang="en-US" sz="2600" dirty="0"/>
          </a:p>
        </p:txBody>
      </p:sp>
      <p:sp>
        <p:nvSpPr>
          <p:cNvPr id="4" name="env"/>
          <p:cNvSpPr/>
          <p:nvPr/>
        </p:nvSpPr>
        <p:spPr>
          <a:xfrm>
            <a:off x="457200" y="1280160"/>
            <a:ext cx="4023360" cy="2926080"/>
          </a:xfrm>
          <a:prstGeom prst="roundRect">
            <a:avLst>
              <a:gd name="adj" fmla="val 3125"/>
            </a:avLst>
          </a:prstGeom>
          <a:solidFill>
            <a:schemeClr val="accent4"/>
          </a:solidFill>
          <a:ln w="12700">
            <a:solidFill>
              <a:schemeClr val="tx1"/>
            </a:solidFill>
            <a:prstDash val="solid"/>
          </a:ln>
        </p:spPr>
        <p:txBody>
          <a:bodyPr/>
          <a:lstStyle/>
          <a:p>
            <a:endParaRPr lang="el-GR"/>
          </a:p>
        </p:txBody>
      </p:sp>
      <p:sp>
        <p:nvSpPr>
          <p:cNvPr id="5" name="env text"/>
          <p:cNvSpPr txBox="1"/>
          <p:nvPr/>
        </p:nvSpPr>
        <p:spPr>
          <a:xfrm>
            <a:off x="594360" y="1371600"/>
            <a:ext cx="3749040" cy="2743200"/>
          </a:xfrm>
          <a:prstGeom prst="rect">
            <a:avLst/>
          </a:prstGeom>
          <a:noFill/>
          <a:ln/>
        </p:spPr>
        <p:txBody>
          <a:bodyPr wrap="square" lIns="0" tIns="0" rIns="0" bIns="0" rtlCol="0" anchor="t"/>
          <a:lstStyle/>
          <a:p>
            <a:pPr marL="0" indent="0">
              <a:buNone/>
            </a:pPr>
            <a:r>
              <a:rPr lang="en-US" sz="1500" b="1" dirty="0">
                <a:solidFill>
                  <a:schemeClr val="tx1"/>
                </a:solidFill>
              </a:rPr>
              <a:t>.env · το χρηματοκιβώτιο</a:t>
            </a:r>
            <a:endParaRPr lang="en-US" sz="1500" dirty="0"/>
          </a:p>
          <a:p>
            <a:pPr marL="0" indent="0">
              <a:buNone/>
            </a:pPr>
            <a:r>
              <a:rPr lang="en-US" sz="1300" dirty="0">
                <a:solidFill>
                  <a:schemeClr val="tx1"/>
                </a:solidFill>
              </a:rPr>
              <a:t>GEMINI_API_KEY=το-κλειδί-σου</a:t>
            </a:r>
            <a:endParaRPr lang="en-US" sz="1500" dirty="0"/>
          </a:p>
          <a:p>
            <a:pPr marL="0" indent="0">
              <a:buNone/>
            </a:pPr>
            <a:endParaRPr lang="en-US" sz="1500" dirty="0"/>
          </a:p>
          <a:p>
            <a:pPr marL="0" indent="0">
              <a:buNone/>
            </a:pPr>
            <a:r>
              <a:rPr lang="en-US" sz="1300" dirty="0">
                <a:solidFill>
                  <a:schemeClr val="tx1"/>
                </a:solidFill>
              </a:rPr>
              <a:t>• Το φτιάχνεις ΕΣΥ, όχι ο agent</a:t>
            </a:r>
            <a:endParaRPr lang="en-US" sz="1500" dirty="0"/>
          </a:p>
          <a:p>
            <a:pPr marL="0" indent="0">
              <a:buNone/>
            </a:pPr>
            <a:r>
              <a:rPr lang="en-US" sz="1300" dirty="0">
                <a:solidFill>
                  <a:schemeClr val="tx1"/>
                </a:solidFill>
              </a:rPr>
              <a:t>• Δεν ανεβαίνει </a:t>
            </a:r>
            <a:r>
              <a:rPr lang="en-US" sz="1400" b="1" dirty="0">
                <a:solidFill>
                  <a:srgbClr val="FF0000"/>
                </a:solidFill>
              </a:rPr>
              <a:t>ποτέ</a:t>
            </a:r>
            <a:r>
              <a:rPr lang="en-US" sz="1300" dirty="0">
                <a:solidFill>
                  <a:schemeClr val="tx1"/>
                </a:solidFill>
              </a:rPr>
              <a:t> (είναι στο .gitignore)</a:t>
            </a:r>
            <a:endParaRPr lang="en-US" sz="1500" dirty="0"/>
          </a:p>
          <a:p>
            <a:pPr marL="0" indent="0">
              <a:buNone/>
            </a:pPr>
            <a:r>
              <a:rPr lang="en-US" sz="1300" dirty="0">
                <a:solidFill>
                  <a:schemeClr val="tx1"/>
                </a:solidFill>
              </a:rPr>
              <a:t>• Στο repo μπαίνει μόνο το .env.example, με άδεια τιμή</a:t>
            </a:r>
            <a:endParaRPr lang="en-US" sz="1500" dirty="0"/>
          </a:p>
        </p:txBody>
      </p:sp>
      <p:sp>
        <p:nvSpPr>
          <p:cNvPr id="6" name="venv"/>
          <p:cNvSpPr/>
          <p:nvPr/>
        </p:nvSpPr>
        <p:spPr>
          <a:xfrm>
            <a:off x="4663440" y="1280160"/>
            <a:ext cx="4023360" cy="2926080"/>
          </a:xfrm>
          <a:prstGeom prst="roundRect">
            <a:avLst>
              <a:gd name="adj" fmla="val 3125"/>
            </a:avLst>
          </a:prstGeom>
          <a:solidFill>
            <a:schemeClr val="accent2"/>
          </a:solidFill>
          <a:ln w="12700">
            <a:solidFill>
              <a:schemeClr val="tx1"/>
            </a:solidFill>
            <a:prstDash val="solid"/>
          </a:ln>
        </p:spPr>
        <p:txBody>
          <a:bodyPr/>
          <a:lstStyle/>
          <a:p>
            <a:endParaRPr lang="el-GR"/>
          </a:p>
        </p:txBody>
      </p:sp>
      <p:sp>
        <p:nvSpPr>
          <p:cNvPr id="7" name="venv text"/>
          <p:cNvSpPr txBox="1"/>
          <p:nvPr/>
        </p:nvSpPr>
        <p:spPr>
          <a:xfrm>
            <a:off x="4800600" y="1371600"/>
            <a:ext cx="3749040" cy="2743200"/>
          </a:xfrm>
          <a:prstGeom prst="rect">
            <a:avLst/>
          </a:prstGeom>
          <a:noFill/>
          <a:ln/>
        </p:spPr>
        <p:txBody>
          <a:bodyPr wrap="square" lIns="0" tIns="0" rIns="0" bIns="0" rtlCol="0" anchor="t"/>
          <a:lstStyle/>
          <a:p>
            <a:pPr marL="0" indent="0">
              <a:buNone/>
            </a:pPr>
            <a:r>
              <a:rPr lang="en-US" sz="1500" b="1" dirty="0">
                <a:solidFill>
                  <a:schemeClr val="tx1"/>
                </a:solidFill>
              </a:rPr>
              <a:t>.venv · το ιδιωτικό εργαλειοφόρο</a:t>
            </a:r>
            <a:endParaRPr lang="en-US" sz="1500" dirty="0"/>
          </a:p>
          <a:p>
            <a:pPr marL="0" indent="0">
              <a:buNone/>
            </a:pPr>
            <a:r>
              <a:rPr lang="en-US" sz="1300" dirty="0">
                <a:solidFill>
                  <a:schemeClr val="tx1"/>
                </a:solidFill>
              </a:rPr>
              <a:t>Φάκελος με τα packages του project.</a:t>
            </a:r>
            <a:endParaRPr lang="en-US" sz="1500" dirty="0"/>
          </a:p>
          <a:p>
            <a:pPr marL="0" indent="0">
              <a:buNone/>
            </a:pPr>
            <a:endParaRPr lang="en-US" sz="1500" dirty="0"/>
          </a:p>
          <a:p>
            <a:pPr marL="0" indent="0">
              <a:buNone/>
            </a:pPr>
            <a:r>
              <a:rPr lang="en-US" sz="1300" dirty="0">
                <a:solidFill>
                  <a:schemeClr val="tx1"/>
                </a:solidFill>
              </a:rPr>
              <a:t>• Ενεργοποίηση σε κάθε νέο terminal</a:t>
            </a:r>
            <a:endParaRPr lang="en-US" sz="1500" dirty="0"/>
          </a:p>
          <a:p>
            <a:pPr marL="0" indent="0">
              <a:buNone/>
            </a:pPr>
            <a:r>
              <a:rPr lang="en-US" sz="1300" dirty="0">
                <a:solidFill>
                  <a:schemeClr val="tx1"/>
                </a:solidFill>
              </a:rPr>
              <a:t>• Φαίνεται (.venv) μπροστά στη γραμμή</a:t>
            </a:r>
            <a:endParaRPr lang="en-US" sz="1500" dirty="0"/>
          </a:p>
          <a:p>
            <a:pPr marL="0" indent="0">
              <a:buNone/>
            </a:pPr>
            <a:r>
              <a:rPr lang="en-US" sz="1300" dirty="0">
                <a:solidFill>
                  <a:schemeClr val="tx1"/>
                </a:solidFill>
              </a:rPr>
              <a:t>• Δεν ανεβαίνει· ξαναχτίζεται με pip install -r requirements.txt</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Βήμα 1 · Ο agent ετοιμάζει το repo</a:t>
            </a:r>
            <a:endParaRPr lang="en-US" sz="2600" dirty="0"/>
          </a:p>
        </p:txBody>
      </p:sp>
      <p:sp>
        <p:nvSpPr>
          <p:cNvPr id="4" name="Prompt"/>
          <p:cNvSpPr txBox="1"/>
          <p:nvPr/>
        </p:nvSpPr>
        <p:spPr>
          <a:xfrm>
            <a:off x="457200" y="1188720"/>
            <a:ext cx="8229600" cy="1737360"/>
          </a:xfrm>
          <a:prstGeom prst="rect">
            <a:avLst/>
          </a:prstGeom>
          <a:solidFill>
            <a:schemeClr val="bg2"/>
          </a:solidFill>
          <a:ln w="9525">
            <a:solidFill>
              <a:schemeClr val="tx2"/>
            </a:solidFill>
          </a:ln>
        </p:spPr>
        <p:txBody>
          <a:bodyPr wrap="square" lIns="101600" tIns="101600" rIns="101600" bIns="101600" rtlCol="0" anchor="t"/>
          <a:lstStyle/>
          <a:p>
            <a:pPr marL="0" indent="0">
              <a:buNone/>
            </a:pPr>
            <a:r>
              <a:rPr lang="en-US" sz="1100" dirty="0">
                <a:solidFill>
                  <a:schemeClr val="tx1"/>
                </a:solidFill>
                <a:latin typeface="Consolas" pitchFamily="34" charset="0"/>
                <a:ea typeface="Consolas" pitchFamily="34" charset="-122"/>
                <a:cs typeface="Consolas" pitchFamily="34" charset="-120"/>
              </a:rPr>
              <a:t>Prepare this project for a public GitHub repo. Make the README show: what it does, a 3-command quick start (clone, pip install, run), how to get a free Gemini API key, how to use private mode with Ollama, and how to add the MCP server to an agent. Check that .env is ignored and that no API key appears anywhere in the repo or in git history.</a:t>
            </a:r>
          </a:p>
        </p:txBody>
      </p:sp>
      <p:sp>
        <p:nvSpPr>
          <p:cNvPr id="5" name="Text 2"/>
          <p:cNvSpPr txBox="1"/>
          <p:nvPr/>
        </p:nvSpPr>
        <p:spPr>
          <a:xfrm>
            <a:off x="457200" y="3108960"/>
            <a:ext cx="8229600" cy="118872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Το GIF έρχεται από το βίντεο του Μέρους 3.</a:t>
            </a:r>
            <a:endParaRPr lang="en-US" sz="1500" dirty="0"/>
          </a:p>
          <a:p>
            <a:pPr marL="342900" indent="-342900">
              <a:spcAft>
                <a:spcPts val="600"/>
              </a:spcAft>
              <a:buSzPct val="100000"/>
              <a:buChar char="•"/>
            </a:pPr>
            <a:r>
              <a:rPr lang="en-US" sz="1500" dirty="0">
                <a:solidFill>
                  <a:schemeClr val="tx1"/>
                </a:solidFill>
              </a:rPr>
              <a:t>Δεν έχεις βίντεο; Νέο recording ή παράλειψη του GIF.</a:t>
            </a:r>
            <a:endParaRPr lang="en-US" sz="1500" dirty="0"/>
          </a:p>
          <a:p>
            <a:pPr marL="342900" indent="-342900">
              <a:spcAft>
                <a:spcPts val="600"/>
              </a:spcAft>
              <a:buSzPct val="100000"/>
              <a:buChar char="•"/>
            </a:pPr>
            <a:r>
              <a:rPr lang="en-US" sz="1500" dirty="0">
                <a:solidFill>
                  <a:schemeClr val="tx1"/>
                </a:solidFill>
              </a:rPr>
              <a:t>Το README ελέγχεται με νέο clone σε άλλο φάκελο.</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Βήματα 3 και 4 · Νέο repo και push</a:t>
            </a:r>
            <a:endParaRPr lang="en-US" sz="2600" dirty="0"/>
          </a:p>
        </p:txBody>
      </p:sp>
      <p:sp>
        <p:nvSpPr>
          <p:cNvPr id="4" name="Text 1"/>
          <p:cNvSpPr txBox="1"/>
          <p:nvPr/>
        </p:nvSpPr>
        <p:spPr>
          <a:xfrm>
            <a:off x="457200" y="365760"/>
            <a:ext cx="4023360" cy="2926080"/>
          </a:xfrm>
          <a:prstGeom prst="rect">
            <a:avLst/>
          </a:prstGeom>
          <a:noFill/>
          <a:ln/>
        </p:spPr>
        <p:txBody>
          <a:bodyPr wrap="square" lIns="0" tIns="0" rIns="0" bIns="0" rtlCol="0" anchor="ctr"/>
          <a:lstStyle/>
          <a:p>
            <a:pPr marL="342900" indent="-342900">
              <a:spcAft>
                <a:spcPts val="800"/>
              </a:spcAft>
              <a:buSzPct val="100000"/>
              <a:buFont typeface="+mj-lt"/>
              <a:buAutoNum type="arabicPeriod"/>
            </a:pPr>
            <a:r>
              <a:rPr lang="en-US" sz="1500" dirty="0">
                <a:solidFill>
                  <a:schemeClr val="tx1"/>
                </a:solidFill>
              </a:rPr>
              <a:t>github.com → + → New repository</a:t>
            </a:r>
            <a:endParaRPr lang="en-US" sz="1500" dirty="0"/>
          </a:p>
          <a:p>
            <a:pPr marL="342900" indent="-342900">
              <a:spcAft>
                <a:spcPts val="800"/>
              </a:spcAft>
              <a:buSzPct val="100000"/>
              <a:buFont typeface="+mj-lt"/>
              <a:buAutoNum type="arabicPeriod"/>
            </a:pPr>
            <a:r>
              <a:rPr lang="en-US" sz="1500" dirty="0">
                <a:solidFill>
                  <a:schemeClr val="tx1"/>
                </a:solidFill>
              </a:rPr>
              <a:t>Όνομα study-copilot · Public · χωρίς README</a:t>
            </a:r>
            <a:endParaRPr lang="en-US" sz="1500" dirty="0"/>
          </a:p>
          <a:p>
            <a:pPr marL="342900" indent="-342900">
              <a:spcAft>
                <a:spcPts val="800"/>
              </a:spcAft>
              <a:buSzPct val="100000"/>
              <a:buFont typeface="+mj-lt"/>
              <a:buAutoNum type="arabicPeriod"/>
            </a:pPr>
            <a:r>
              <a:rPr lang="en-US" sz="1500" dirty="0">
                <a:solidFill>
                  <a:schemeClr val="tx1"/>
                </a:solidFill>
              </a:rPr>
              <a:t>Create repository</a:t>
            </a:r>
            <a:endParaRPr lang="en-US" sz="1500" dirty="0"/>
          </a:p>
          <a:p>
            <a:pPr marL="342900" indent="-342900">
              <a:spcAft>
                <a:spcPts val="800"/>
              </a:spcAft>
              <a:buSzPct val="100000"/>
              <a:buFont typeface="+mj-lt"/>
              <a:buAutoNum type="arabicPeriod"/>
            </a:pPr>
            <a:r>
              <a:rPr lang="en-US" sz="1500" dirty="0">
                <a:solidFill>
                  <a:schemeClr val="tx1"/>
                </a:solidFill>
              </a:rPr>
              <a:t>Ζήτα από τον agent το push (δίπλα)</a:t>
            </a:r>
            <a:endParaRPr lang="en-US" sz="1500" dirty="0"/>
          </a:p>
          <a:p>
            <a:pPr marL="342900" indent="-342900">
              <a:spcAft>
                <a:spcPts val="800"/>
              </a:spcAft>
              <a:buSzPct val="100000"/>
              <a:buFont typeface="+mj-lt"/>
              <a:buAutoNum type="arabicPeriod"/>
            </a:pPr>
            <a:r>
              <a:rPr lang="en-US" sz="1500" dirty="0">
                <a:solidFill>
                  <a:schemeClr val="tx1"/>
                </a:solidFill>
              </a:rPr>
              <a:t>Άνοιξε το repo από το κινητό σου</a:t>
            </a:r>
            <a:endParaRPr lang="en-US" sz="1500" dirty="0"/>
          </a:p>
        </p:txBody>
      </p:sp>
      <p:sp>
        <p:nvSpPr>
          <p:cNvPr id="5" name="Push prompt"/>
          <p:cNvSpPr txBox="1"/>
          <p:nvPr/>
        </p:nvSpPr>
        <p:spPr>
          <a:xfrm>
            <a:off x="4663440" y="1188720"/>
            <a:ext cx="4023360" cy="914400"/>
          </a:xfrm>
          <a:prstGeom prst="rect">
            <a:avLst/>
          </a:prstGeom>
          <a:solidFill>
            <a:schemeClr val="bg2"/>
          </a:solidFill>
          <a:ln w="9525">
            <a:solidFill>
              <a:schemeClr val="tx2"/>
            </a:solidFill>
          </a:ln>
        </p:spPr>
        <p:txBody>
          <a:bodyPr wrap="square" lIns="101600" tIns="101600" rIns="101600" bIns="101600" rtlCol="0" anchor="t"/>
          <a:lstStyle/>
          <a:p>
            <a:pPr marL="0" indent="0">
              <a:buNone/>
            </a:pPr>
            <a:r>
              <a:rPr lang="en-US" sz="1100" dirty="0">
                <a:solidFill>
                  <a:schemeClr val="tx1"/>
                </a:solidFill>
                <a:latin typeface="Consolas" pitchFamily="34" charset="0"/>
                <a:ea typeface="Consolas" pitchFamily="34" charset="-122"/>
                <a:cs typeface="Consolas" pitchFamily="34" charset="-120"/>
              </a:rPr>
              <a:t>Add https://github.com/&lt;username&gt;/study-copilot as the origin remote and push the main branch.</a:t>
            </a:r>
            <a:endParaRPr lang="en-US" sz="1100" dirty="0"/>
          </a:p>
        </p:txBody>
      </p:sp>
      <p:sp>
        <p:nvSpPr>
          <p:cNvPr id="6" name="stuck"/>
          <p:cNvSpPr/>
          <p:nvPr/>
        </p:nvSpPr>
        <p:spPr>
          <a:xfrm>
            <a:off x="3802566" y="2286000"/>
            <a:ext cx="4884234" cy="2011680"/>
          </a:xfrm>
          <a:prstGeom prst="roundRect">
            <a:avLst>
              <a:gd name="adj" fmla="val 4545"/>
            </a:avLst>
          </a:prstGeom>
          <a:solidFill>
            <a:schemeClr val="accent4"/>
          </a:solidFill>
          <a:ln w="12700">
            <a:solidFill>
              <a:schemeClr val="tx1"/>
            </a:solidFill>
            <a:prstDash val="solid"/>
          </a:ln>
        </p:spPr>
        <p:txBody>
          <a:bodyPr/>
          <a:lstStyle/>
          <a:p>
            <a:endParaRPr lang="el-GR"/>
          </a:p>
        </p:txBody>
      </p:sp>
      <p:sp>
        <p:nvSpPr>
          <p:cNvPr id="7" name="stuck text"/>
          <p:cNvSpPr txBox="1"/>
          <p:nvPr/>
        </p:nvSpPr>
        <p:spPr>
          <a:xfrm>
            <a:off x="3958683" y="2377440"/>
            <a:ext cx="4590957" cy="1828800"/>
          </a:xfrm>
          <a:prstGeom prst="rect">
            <a:avLst/>
          </a:prstGeom>
          <a:noFill/>
          <a:ln/>
        </p:spPr>
        <p:txBody>
          <a:bodyPr wrap="square" lIns="0" tIns="0" rIns="0" bIns="0" rtlCol="0" anchor="t"/>
          <a:lstStyle/>
          <a:p>
            <a:pPr marL="0" indent="0">
              <a:buNone/>
            </a:pPr>
            <a:r>
              <a:rPr lang="en-US" sz="1500" b="1" dirty="0">
                <a:solidFill>
                  <a:schemeClr val="tx1"/>
                </a:solidFill>
              </a:rPr>
              <a:t>Αν κολλήσεις</a:t>
            </a:r>
            <a:endParaRPr lang="en-US" sz="1500" dirty="0"/>
          </a:p>
          <a:p>
            <a:pPr marL="0" indent="0">
              <a:buNone/>
            </a:pPr>
            <a:r>
              <a:rPr lang="en-US" sz="1200" dirty="0">
                <a:solidFill>
                  <a:schemeClr val="tx1"/>
                </a:solidFill>
              </a:rPr>
              <a:t>• remote origin already exists:</a:t>
            </a:r>
          </a:p>
          <a:p>
            <a:pPr marL="0" indent="0">
              <a:buNone/>
            </a:pPr>
            <a:endParaRPr lang="en-US" sz="1200" dirty="0"/>
          </a:p>
          <a:p>
            <a:pPr marL="0" indent="0">
              <a:buNone/>
            </a:pPr>
            <a:endParaRPr lang="en-US" sz="1500" dirty="0"/>
          </a:p>
          <a:p>
            <a:r>
              <a:rPr lang="en-US" sz="1200" b="1" dirty="0">
                <a:latin typeface="Consolas" panose="020B0609020204030204" pitchFamily="49" charset="0"/>
              </a:rPr>
              <a:t>git remote set-</a:t>
            </a:r>
            <a:r>
              <a:rPr lang="en-US" sz="1200" b="1" dirty="0" err="1">
                <a:latin typeface="Consolas" panose="020B0609020204030204" pitchFamily="49" charset="0"/>
              </a:rPr>
              <a:t>url</a:t>
            </a:r>
            <a:r>
              <a:rPr lang="en-US" sz="1200" b="1" dirty="0">
                <a:latin typeface="Consolas" panose="020B0609020204030204" pitchFamily="49" charset="0"/>
              </a:rPr>
              <a:t> origin https://&lt;YOUR GITHUB TOKEN (</a:t>
            </a:r>
            <a:r>
              <a:rPr lang="en-US" sz="1200" b="1" dirty="0" err="1">
                <a:latin typeface="Consolas" panose="020B0609020204030204" pitchFamily="49" charset="0"/>
              </a:rPr>
              <a:t>ghp</a:t>
            </a:r>
            <a:r>
              <a:rPr lang="en-US" sz="1200" b="1" dirty="0">
                <a:latin typeface="Consolas" panose="020B0609020204030204" pitchFamily="49" charset="0"/>
              </a:rPr>
              <a:t>...)&gt;@://github.com/&lt;USER NAME&gt;/study-</a:t>
            </a:r>
            <a:r>
              <a:rPr lang="en-US" sz="1200" b="1" dirty="0" err="1">
                <a:latin typeface="Consolas" panose="020B0609020204030204" pitchFamily="49" charset="0"/>
              </a:rPr>
              <a:t>copilot.git</a:t>
            </a:r>
            <a:endParaRPr lang="en-US" sz="1100" b="1" dirty="0">
              <a:latin typeface="Consolas" panose="020B0609020204030204" pitchFamily="49" charset="0"/>
            </a:endParaRPr>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Βήμα 2 · Ο έλεγχος που κάνεις ΕΣΥ</a:t>
            </a:r>
            <a:endParaRPr lang="en-US" sz="2600" dirty="0"/>
          </a:p>
        </p:txBody>
      </p:sp>
      <p:sp>
        <p:nvSpPr>
          <p:cNvPr id="4" name="Commands"/>
          <p:cNvSpPr txBox="1"/>
          <p:nvPr/>
        </p:nvSpPr>
        <p:spPr>
          <a:xfrm>
            <a:off x="457200" y="1188720"/>
            <a:ext cx="4754880" cy="1737360"/>
          </a:xfrm>
          <a:prstGeom prst="rect">
            <a:avLst/>
          </a:prstGeom>
          <a:solidFill>
            <a:schemeClr val="bg2"/>
          </a:solidFill>
          <a:ln w="9525">
            <a:solidFill>
              <a:schemeClr val="tx2"/>
            </a:solidFill>
          </a:ln>
        </p:spPr>
        <p:txBody>
          <a:bodyPr wrap="square" lIns="101600" tIns="101600" rIns="101600" bIns="101600" rtlCol="0" anchor="t"/>
          <a:lstStyle/>
          <a:p>
            <a:pPr marL="0" indent="0">
              <a:buNone/>
            </a:pPr>
            <a:r>
              <a:rPr lang="en-US" sz="1100" dirty="0">
                <a:solidFill>
                  <a:schemeClr val="tx1"/>
                </a:solidFill>
                <a:latin typeface="Consolas" pitchFamily="34" charset="0"/>
                <a:ea typeface="Consolas" pitchFamily="34" charset="-122"/>
                <a:cs typeface="Consolas" pitchFamily="34" charset="-120"/>
              </a:rPr>
              <a:t>git status</a:t>
            </a:r>
            <a:endParaRPr lang="en-US" sz="1100" dirty="0"/>
          </a:p>
          <a:p>
            <a:pPr marL="0" indent="0">
              <a:buNone/>
            </a:pPr>
            <a:endParaRPr lang="en-US" sz="1100" dirty="0"/>
          </a:p>
          <a:p>
            <a:pPr marL="0" indent="0">
              <a:buNone/>
            </a:pPr>
            <a:r>
              <a:rPr lang="en-US" sz="1100" dirty="0">
                <a:solidFill>
                  <a:schemeClr val="tx1"/>
                </a:solidFill>
                <a:latin typeface="Consolas" pitchFamily="34" charset="0"/>
                <a:ea typeface="Consolas" pitchFamily="34" charset="-122"/>
                <a:cs typeface="Consolas" pitchFamily="34" charset="-120"/>
              </a:rPr>
              <a:t>grep -rI "AIza" . --exclude-dir=.venv --exclude-dir=.git</a:t>
            </a:r>
            <a:endParaRPr lang="en-US" sz="1100" dirty="0"/>
          </a:p>
          <a:p>
            <a:pPr marL="0" indent="0">
              <a:buNone/>
            </a:pPr>
            <a:endParaRPr lang="en-US" sz="1100" dirty="0"/>
          </a:p>
          <a:p>
            <a:pPr marL="0" indent="0">
              <a:buNone/>
            </a:pPr>
            <a:r>
              <a:rPr lang="en-US" sz="1100" dirty="0">
                <a:solidFill>
                  <a:schemeClr val="tx1"/>
                </a:solidFill>
                <a:latin typeface="Consolas" pitchFamily="34" charset="0"/>
                <a:ea typeface="Consolas" pitchFamily="34" charset="-122"/>
                <a:cs typeface="Consolas" pitchFamily="34" charset="-120"/>
              </a:rPr>
              <a:t>git log -p --all | grep "AIza"</a:t>
            </a:r>
            <a:endParaRPr lang="en-US" sz="1100" dirty="0"/>
          </a:p>
        </p:txBody>
      </p:sp>
      <p:sp>
        <p:nvSpPr>
          <p:cNvPr id="5" name="Text 2"/>
          <p:cNvSpPr txBox="1"/>
          <p:nvPr/>
        </p:nvSpPr>
        <p:spPr>
          <a:xfrm>
            <a:off x="5486400" y="1188720"/>
            <a:ext cx="3200400" cy="17373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Το .env ΔΕΝ φαίνεται στο git status</a:t>
            </a:r>
            <a:endParaRPr lang="en-US" sz="1400" dirty="0"/>
          </a:p>
          <a:p>
            <a:pPr marL="342900" indent="-342900">
              <a:spcAft>
                <a:spcPts val="600"/>
              </a:spcAft>
              <a:buSzPct val="100000"/>
              <a:buChar char="•"/>
            </a:pPr>
            <a:r>
              <a:rPr lang="en-US" sz="1400" dirty="0">
                <a:solidFill>
                  <a:schemeClr val="tx1"/>
                </a:solidFill>
              </a:rPr>
              <a:t>Το grep δεν τυπώνει τίποτα</a:t>
            </a:r>
            <a:endParaRPr lang="en-US" sz="1400" dirty="0"/>
          </a:p>
          <a:p>
            <a:pPr marL="342900" indent="-342900">
              <a:spcAft>
                <a:spcPts val="600"/>
              </a:spcAft>
              <a:buSzPct val="100000"/>
              <a:buChar char="•"/>
            </a:pPr>
            <a:r>
              <a:rPr lang="en-US" sz="1400" dirty="0">
                <a:solidFill>
                  <a:schemeClr val="tx1"/>
                </a:solidFill>
              </a:rPr>
              <a:t>Δες το GIF: χωρίς .env, κλειδί, προσωπικά αρχεία</a:t>
            </a:r>
            <a:endParaRPr lang="en-US" sz="1400" dirty="0"/>
          </a:p>
        </p:txBody>
      </p:sp>
      <p:sp>
        <p:nvSpPr>
          <p:cNvPr id="6" name="warn"/>
          <p:cNvSpPr/>
          <p:nvPr/>
        </p:nvSpPr>
        <p:spPr>
          <a:xfrm>
            <a:off x="457200" y="3200400"/>
            <a:ext cx="8229600" cy="1097280"/>
          </a:xfrm>
          <a:prstGeom prst="roundRect">
            <a:avLst>
              <a:gd name="adj" fmla="val 8333"/>
            </a:avLst>
          </a:prstGeom>
          <a:solidFill>
            <a:schemeClr val="accent4"/>
          </a:solidFill>
          <a:ln w="12700">
            <a:solidFill>
              <a:schemeClr val="tx1"/>
            </a:solidFill>
            <a:prstDash val="solid"/>
          </a:ln>
        </p:spPr>
        <p:txBody>
          <a:bodyPr/>
          <a:lstStyle/>
          <a:p>
            <a:endParaRPr lang="el-GR"/>
          </a:p>
        </p:txBody>
      </p:sp>
      <p:sp>
        <p:nvSpPr>
          <p:cNvPr id="7" name="warn text"/>
          <p:cNvSpPr txBox="1"/>
          <p:nvPr/>
        </p:nvSpPr>
        <p:spPr>
          <a:xfrm>
            <a:off x="594360" y="3291840"/>
            <a:ext cx="7955280" cy="914400"/>
          </a:xfrm>
          <a:prstGeom prst="rect">
            <a:avLst/>
          </a:prstGeom>
          <a:noFill/>
          <a:ln/>
        </p:spPr>
        <p:txBody>
          <a:bodyPr wrap="square" lIns="0" tIns="0" rIns="0" bIns="0" rtlCol="0" anchor="t"/>
          <a:lstStyle/>
          <a:p>
            <a:pPr marL="0" indent="0">
              <a:buNone/>
            </a:pPr>
            <a:r>
              <a:rPr lang="en-US" sz="1500" b="1" dirty="0">
                <a:solidFill>
                  <a:schemeClr val="tx1"/>
                </a:solidFill>
              </a:rPr>
              <a:t>Το git status από μόνο του δεν αρκεί</a:t>
            </a:r>
            <a:endParaRPr lang="en-US" sz="1500" dirty="0"/>
          </a:p>
          <a:p>
            <a:pPr marL="0" indent="0">
              <a:buNone/>
            </a:pPr>
            <a:r>
              <a:rPr lang="en-US" sz="1300" dirty="0">
                <a:solidFill>
                  <a:schemeClr val="tx1"/>
                </a:solidFill>
              </a:rPr>
              <a:t>Δείχνει μόνο ό,τι δεν έχει αποθηκευτεί ακόμα. Ένα κλειδί μπορεί να κρύβεται σε παλιό commit ή μέσα σε μια εικόνα.</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Αν ανέβει κλειδί: ακύρωσέ το</a:t>
            </a:r>
            <a:endParaRPr lang="en-US" sz="2600" dirty="0"/>
          </a:p>
        </p:txBody>
      </p:sp>
      <p:sp>
        <p:nvSpPr>
          <p:cNvPr id="4" name="leak1"/>
          <p:cNvSpPr/>
          <p:nvPr/>
        </p:nvSpPr>
        <p:spPr>
          <a:xfrm>
            <a:off x="457200" y="1280160"/>
            <a:ext cx="2560320" cy="2194560"/>
          </a:xfrm>
          <a:prstGeom prst="roundRect">
            <a:avLst>
              <a:gd name="adj" fmla="val 4167"/>
            </a:avLst>
          </a:prstGeom>
          <a:solidFill>
            <a:schemeClr val="accent1"/>
          </a:solidFill>
          <a:ln w="12700">
            <a:solidFill>
              <a:schemeClr val="tx1"/>
            </a:solidFill>
            <a:prstDash val="solid"/>
          </a:ln>
        </p:spPr>
        <p:txBody>
          <a:bodyPr/>
          <a:lstStyle/>
          <a:p>
            <a:endParaRPr lang="el-GR"/>
          </a:p>
        </p:txBody>
      </p:sp>
      <p:sp>
        <p:nvSpPr>
          <p:cNvPr id="5" name="leak1 text"/>
          <p:cNvSpPr txBox="1"/>
          <p:nvPr/>
        </p:nvSpPr>
        <p:spPr>
          <a:xfrm>
            <a:off x="594360" y="1371600"/>
            <a:ext cx="2286000" cy="2011680"/>
          </a:xfrm>
          <a:prstGeom prst="rect">
            <a:avLst/>
          </a:prstGeom>
          <a:noFill/>
          <a:ln/>
        </p:spPr>
        <p:txBody>
          <a:bodyPr wrap="square" lIns="0" tIns="0" rIns="0" bIns="0" rtlCol="0" anchor="t"/>
          <a:lstStyle/>
          <a:p>
            <a:pPr marL="0" indent="0">
              <a:buNone/>
            </a:pPr>
            <a:r>
              <a:rPr lang="en-US" sz="1500" b="1" dirty="0">
                <a:solidFill>
                  <a:schemeClr val="tx1"/>
                </a:solidFill>
              </a:rPr>
              <a:t>1. Ακύρωσέ το</a:t>
            </a:r>
            <a:endParaRPr lang="en-US" sz="1500" dirty="0"/>
          </a:p>
          <a:p>
            <a:pPr marL="0" indent="0">
              <a:buNone/>
            </a:pPr>
            <a:r>
              <a:rPr lang="en-US" sz="1500" dirty="0">
                <a:solidFill>
                  <a:schemeClr val="tx1"/>
                </a:solidFill>
              </a:rPr>
              <a:t>Σβήσ' το στο aistudio.google.com</a:t>
            </a:r>
            <a:endParaRPr lang="en-US" sz="1500" dirty="0"/>
          </a:p>
        </p:txBody>
      </p:sp>
      <p:sp>
        <p:nvSpPr>
          <p:cNvPr id="6" name="leak2"/>
          <p:cNvSpPr/>
          <p:nvPr/>
        </p:nvSpPr>
        <p:spPr>
          <a:xfrm>
            <a:off x="3291840" y="1280160"/>
            <a:ext cx="2560320" cy="2194560"/>
          </a:xfrm>
          <a:prstGeom prst="roundRect">
            <a:avLst>
              <a:gd name="adj" fmla="val 4167"/>
            </a:avLst>
          </a:prstGeom>
          <a:solidFill>
            <a:schemeClr val="accent1"/>
          </a:solidFill>
          <a:ln w="12700">
            <a:solidFill>
              <a:schemeClr val="tx1"/>
            </a:solidFill>
            <a:prstDash val="solid"/>
          </a:ln>
        </p:spPr>
        <p:txBody>
          <a:bodyPr/>
          <a:lstStyle/>
          <a:p>
            <a:endParaRPr lang="el-GR"/>
          </a:p>
        </p:txBody>
      </p:sp>
      <p:sp>
        <p:nvSpPr>
          <p:cNvPr id="7" name="leak2 text"/>
          <p:cNvSpPr txBox="1"/>
          <p:nvPr/>
        </p:nvSpPr>
        <p:spPr>
          <a:xfrm>
            <a:off x="3429000" y="1371600"/>
            <a:ext cx="2286000" cy="2011680"/>
          </a:xfrm>
          <a:prstGeom prst="rect">
            <a:avLst/>
          </a:prstGeom>
          <a:noFill/>
          <a:ln/>
        </p:spPr>
        <p:txBody>
          <a:bodyPr wrap="square" lIns="0" tIns="0" rIns="0" bIns="0" rtlCol="0" anchor="t"/>
          <a:lstStyle/>
          <a:p>
            <a:pPr marL="0" indent="0">
              <a:buNone/>
            </a:pPr>
            <a:r>
              <a:rPr lang="en-US" sz="1500" b="1" dirty="0">
                <a:solidFill>
                  <a:schemeClr val="tx1"/>
                </a:solidFill>
              </a:rPr>
              <a:t>2. Φτιάξε νέο</a:t>
            </a:r>
            <a:endParaRPr lang="en-US" sz="1500" dirty="0"/>
          </a:p>
          <a:p>
            <a:pPr marL="0" indent="0">
              <a:buNone/>
            </a:pPr>
            <a:r>
              <a:rPr lang="en-US" sz="1500" dirty="0">
                <a:solidFill>
                  <a:schemeClr val="tx1"/>
                </a:solidFill>
              </a:rPr>
              <a:t>Νέο κλειδί από το AI Studio</a:t>
            </a:r>
            <a:endParaRPr lang="en-US" sz="1500" dirty="0"/>
          </a:p>
        </p:txBody>
      </p:sp>
      <p:sp>
        <p:nvSpPr>
          <p:cNvPr id="8" name="leak3"/>
          <p:cNvSpPr/>
          <p:nvPr/>
        </p:nvSpPr>
        <p:spPr>
          <a:xfrm>
            <a:off x="6126480" y="1280160"/>
            <a:ext cx="2560320" cy="2194560"/>
          </a:xfrm>
          <a:prstGeom prst="roundRect">
            <a:avLst>
              <a:gd name="adj" fmla="val 4167"/>
            </a:avLst>
          </a:prstGeom>
          <a:solidFill>
            <a:schemeClr val="accent1"/>
          </a:solidFill>
          <a:ln w="12700">
            <a:solidFill>
              <a:schemeClr val="tx1"/>
            </a:solidFill>
            <a:prstDash val="solid"/>
          </a:ln>
        </p:spPr>
        <p:txBody>
          <a:bodyPr/>
          <a:lstStyle/>
          <a:p>
            <a:endParaRPr lang="el-GR"/>
          </a:p>
        </p:txBody>
      </p:sp>
      <p:sp>
        <p:nvSpPr>
          <p:cNvPr id="9" name="leak3 text"/>
          <p:cNvSpPr txBox="1"/>
          <p:nvPr/>
        </p:nvSpPr>
        <p:spPr>
          <a:xfrm>
            <a:off x="6263640" y="1371600"/>
            <a:ext cx="2286000" cy="2011680"/>
          </a:xfrm>
          <a:prstGeom prst="rect">
            <a:avLst/>
          </a:prstGeom>
          <a:noFill/>
          <a:ln/>
        </p:spPr>
        <p:txBody>
          <a:bodyPr wrap="square" lIns="0" tIns="0" rIns="0" bIns="0" rtlCol="0" anchor="t"/>
          <a:lstStyle/>
          <a:p>
            <a:pPr marL="0" indent="0">
              <a:buNone/>
            </a:pPr>
            <a:r>
              <a:rPr lang="en-US" sz="1500" b="1" dirty="0">
                <a:solidFill>
                  <a:schemeClr val="tx1"/>
                </a:solidFill>
              </a:rPr>
              <a:t>3. Βάλ' το τοπικά</a:t>
            </a:r>
            <a:endParaRPr lang="en-US" sz="1500" dirty="0"/>
          </a:p>
          <a:p>
            <a:pPr marL="0" indent="0">
              <a:buNone/>
            </a:pPr>
            <a:r>
              <a:rPr lang="en-US" sz="1500" dirty="0">
                <a:solidFill>
                  <a:schemeClr val="tx1"/>
                </a:solidFill>
              </a:rPr>
              <a:t>Μόνο στο .env του laptop σου</a:t>
            </a:r>
            <a:endParaRPr lang="en-US" sz="1500" dirty="0"/>
          </a:p>
        </p:txBody>
      </p:sp>
      <p:sp>
        <p:nvSpPr>
          <p:cNvPr id="10" name="Text 7"/>
          <p:cNvSpPr txBox="1"/>
          <p:nvPr/>
        </p:nvSpPr>
        <p:spPr>
          <a:xfrm>
            <a:off x="457200" y="3749040"/>
            <a:ext cx="8229600" cy="457200"/>
          </a:xfrm>
          <a:prstGeom prst="rect">
            <a:avLst/>
          </a:prstGeom>
          <a:noFill/>
          <a:ln/>
        </p:spPr>
        <p:txBody>
          <a:bodyPr wrap="square" lIns="0" tIns="0" rIns="0" bIns="0" rtlCol="0" anchor="ctr"/>
          <a:lstStyle/>
          <a:p>
            <a:pPr marL="0" indent="0">
              <a:buNone/>
            </a:pPr>
            <a:r>
              <a:rPr lang="en-US" sz="1600" b="1" dirty="0">
                <a:solidFill>
                  <a:schemeClr val="accent6"/>
                </a:solidFill>
              </a:rPr>
              <a:t>Δεν αρκεί να σβήσεις το αρχείο: το κλειδί μένει στο ιστορικό.</a:t>
            </a:r>
            <a:endParaRPr lang="en-US" sz="16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Γεύση αυτοματισμού</a:t>
            </a:r>
            <a:endParaRPr lang="en-US" sz="2600" dirty="0"/>
          </a:p>
        </p:txBody>
      </p:sp>
      <p:sp>
        <p:nvSpPr>
          <p:cNvPr id="4" name="auto"/>
          <p:cNvSpPr/>
          <p:nvPr/>
        </p:nvSpPr>
        <p:spPr>
          <a:xfrm>
            <a:off x="457200" y="1188720"/>
            <a:ext cx="4023360" cy="3108960"/>
          </a:xfrm>
          <a:prstGeom prst="roundRect">
            <a:avLst>
              <a:gd name="adj" fmla="val 2941"/>
            </a:avLst>
          </a:prstGeom>
          <a:solidFill>
            <a:schemeClr val="accent3"/>
          </a:solidFill>
          <a:ln w="12700">
            <a:solidFill>
              <a:schemeClr val="tx1"/>
            </a:solidFill>
            <a:prstDash val="solid"/>
          </a:ln>
        </p:spPr>
        <p:txBody>
          <a:bodyPr/>
          <a:lstStyle/>
          <a:p>
            <a:endParaRPr lang="el-GR"/>
          </a:p>
        </p:txBody>
      </p:sp>
      <p:sp>
        <p:nvSpPr>
          <p:cNvPr id="5" name="auto text"/>
          <p:cNvSpPr txBox="1"/>
          <p:nvPr/>
        </p:nvSpPr>
        <p:spPr>
          <a:xfrm>
            <a:off x="594360" y="1280160"/>
            <a:ext cx="3749040" cy="2926080"/>
          </a:xfrm>
          <a:prstGeom prst="rect">
            <a:avLst/>
          </a:prstGeom>
          <a:noFill/>
          <a:ln/>
        </p:spPr>
        <p:txBody>
          <a:bodyPr wrap="square" lIns="0" tIns="0" rIns="0" bIns="0" rtlCol="0" anchor="t"/>
          <a:lstStyle/>
          <a:p>
            <a:pPr marL="0" indent="0">
              <a:buNone/>
            </a:pPr>
            <a:r>
              <a:rPr lang="en-US" sz="1500" b="1" dirty="0">
                <a:solidFill>
                  <a:schemeClr val="tx1"/>
                </a:solidFill>
              </a:rPr>
              <a:t>Automation</a:t>
            </a:r>
            <a:endParaRPr lang="en-US" sz="1500" dirty="0"/>
          </a:p>
          <a:p>
            <a:pPr marL="0" indent="0">
              <a:buNone/>
            </a:pPr>
            <a:r>
              <a:rPr lang="en-US" sz="1200" dirty="0">
                <a:solidFill>
                  <a:schemeClr val="tx1"/>
                </a:solidFill>
              </a:rPr>
              <a:t>/schedule Every Sunday at 18:00, write revision/&lt;date&gt;.md with a 10-question quiz from all PDFs in sample_lectures/.</a:t>
            </a:r>
            <a:endParaRPr lang="en-US" sz="1500" dirty="0"/>
          </a:p>
          <a:p>
            <a:pPr marL="0" indent="0">
              <a:buNone/>
            </a:pPr>
            <a:endParaRPr lang="en-US" sz="1500" dirty="0"/>
          </a:p>
          <a:p>
            <a:pPr marL="0" indent="0">
              <a:buNone/>
            </a:pPr>
            <a:r>
              <a:rPr lang="en-US" sz="1200" dirty="0">
                <a:solidFill>
                  <a:schemeClr val="tx1"/>
                </a:solidFill>
              </a:rPr>
              <a:t>Μετά: Run Now για άμεσο αποτέλεσμα.</a:t>
            </a:r>
            <a:endParaRPr lang="en-US" sz="1500" dirty="0"/>
          </a:p>
          <a:p>
            <a:pPr marL="0" indent="0">
              <a:buNone/>
            </a:pPr>
            <a:r>
              <a:rPr lang="en-US" sz="1200" dirty="0">
                <a:solidFill>
                  <a:schemeClr val="tx1"/>
                </a:solidFill>
              </a:rPr>
              <a:t>Πρώην «Scheduled Tasks».</a:t>
            </a:r>
            <a:endParaRPr lang="en-US" sz="1500" dirty="0"/>
          </a:p>
        </p:txBody>
      </p:sp>
      <p:sp>
        <p:nvSpPr>
          <p:cNvPr id="6" name="agy"/>
          <p:cNvSpPr/>
          <p:nvPr/>
        </p:nvSpPr>
        <p:spPr>
          <a:xfrm>
            <a:off x="4663440" y="1188720"/>
            <a:ext cx="4023360" cy="3108960"/>
          </a:xfrm>
          <a:prstGeom prst="roundRect">
            <a:avLst>
              <a:gd name="adj" fmla="val 2941"/>
            </a:avLst>
          </a:prstGeom>
          <a:solidFill>
            <a:schemeClr val="accent2"/>
          </a:solidFill>
          <a:ln w="12700">
            <a:solidFill>
              <a:schemeClr val="tx1"/>
            </a:solidFill>
            <a:prstDash val="solid"/>
          </a:ln>
        </p:spPr>
        <p:txBody>
          <a:bodyPr/>
          <a:lstStyle/>
          <a:p>
            <a:endParaRPr lang="el-GR"/>
          </a:p>
        </p:txBody>
      </p:sp>
      <p:sp>
        <p:nvSpPr>
          <p:cNvPr id="7" name="agy text"/>
          <p:cNvSpPr txBox="1"/>
          <p:nvPr/>
        </p:nvSpPr>
        <p:spPr>
          <a:xfrm>
            <a:off x="4800600" y="1280160"/>
            <a:ext cx="3749040" cy="2926080"/>
          </a:xfrm>
          <a:prstGeom prst="rect">
            <a:avLst/>
          </a:prstGeom>
          <a:noFill/>
          <a:ln/>
        </p:spPr>
        <p:txBody>
          <a:bodyPr wrap="square" lIns="0" tIns="0" rIns="0" bIns="0" rtlCol="0" anchor="t"/>
          <a:lstStyle/>
          <a:p>
            <a:pPr marL="0" indent="0">
              <a:buNone/>
            </a:pPr>
            <a:r>
              <a:rPr lang="en-US" sz="1500" b="1" dirty="0">
                <a:solidFill>
                  <a:schemeClr val="tx1"/>
                </a:solidFill>
              </a:rPr>
              <a:t>agy -p · ο agent ως εντολή</a:t>
            </a:r>
            <a:endParaRPr lang="en-US" sz="1500" dirty="0"/>
          </a:p>
          <a:p>
            <a:pPr marL="0" indent="0">
              <a:buNone/>
            </a:pPr>
            <a:r>
              <a:rPr lang="en-US" sz="1200" dirty="0">
                <a:solidFill>
                  <a:schemeClr val="tx1"/>
                </a:solidFill>
              </a:rPr>
              <a:t>agy -p "Summarize sample_lectures/lecture1.pdf in 5 bullets"</a:t>
            </a:r>
            <a:endParaRPr lang="en-US" sz="1500" dirty="0"/>
          </a:p>
          <a:p>
            <a:pPr marL="0" indent="0">
              <a:buNone/>
            </a:pPr>
            <a:endParaRPr lang="en-US" sz="1500" dirty="0"/>
          </a:p>
          <a:p>
            <a:pPr marL="0" indent="0">
              <a:buNone/>
            </a:pPr>
            <a:r>
              <a:rPr lang="en-US" sz="1200" dirty="0">
                <a:solidFill>
                  <a:schemeClr val="tx1"/>
                </a:solidFill>
              </a:rPr>
              <a:t>Με loop: μία περίληψη για κάθε PDF.</a:t>
            </a:r>
            <a:endParaRPr lang="en-US" sz="1500" dirty="0"/>
          </a:p>
          <a:p>
            <a:pPr marL="0" indent="0">
              <a:buNone/>
            </a:pPr>
            <a:r>
              <a:rPr lang="en-US" sz="1200" dirty="0">
                <a:solidFill>
                  <a:schemeClr val="tx1"/>
                </a:solidFill>
              </a:rPr>
              <a:t>Τρέχει στο laptop, όχι στο cloud.</a:t>
            </a:r>
            <a:endParaRPr lang="en-US" sz="1500" dirty="0"/>
          </a:p>
          <a:p>
            <a:pPr marL="0" indent="0">
              <a:buNone/>
            </a:pPr>
            <a:r>
              <a:rPr lang="en-US" sz="1200" dirty="0">
                <a:solidFill>
                  <a:schemeClr val="tx1"/>
                </a:solidFill>
              </a:rPr>
              <a:t>Windows: Git Bash.</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Προβλήματα και λύσεις</a:t>
            </a:r>
            <a:endParaRPr lang="en-US" sz="2600" dirty="0"/>
          </a:p>
        </p:txBody>
      </p:sp>
      <p:graphicFrame>
        <p:nvGraphicFramePr>
          <p:cNvPr id="11" name="Problem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287524"/>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0">
                <a:tc>
                  <a:txBody>
                    <a:bodyPr/>
                    <a:lstStyle/>
                    <a:p>
                      <a:pPr marL="0" indent="0">
                        <a:buNone/>
                      </a:pPr>
                      <a:r>
                        <a:rPr lang="en-US" sz="1200" b="1" dirty="0">
                          <a:solidFill>
                            <a:schemeClr val="tx1"/>
                          </a:solidFill>
                        </a:rPr>
                        <a:t>Πρόβλημα</a:t>
                      </a:r>
                      <a:endParaRPr lang="en-US" sz="120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tx1"/>
                          </a:solidFill>
                        </a:rPr>
                        <a:t>Λύση</a:t>
                      </a:r>
                      <a:endParaRPr lang="en-US" sz="120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0">
                <a:tc>
                  <a:txBody>
                    <a:bodyPr/>
                    <a:lstStyle/>
                    <a:p>
                      <a:pPr marL="0" indent="0">
                        <a:buNone/>
                      </a:pPr>
                      <a:r>
                        <a:rPr lang="en-US" sz="1150" b="1" dirty="0">
                          <a:solidFill>
                            <a:schemeClr val="tx1"/>
                          </a:solidFill>
                        </a:rPr>
                        <a:t>Το push ζητά login</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Παράθυρο browser, gh auth login ή token (όχι ο κωδικός λογαριασμού)</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50" b="1" dirty="0">
                          <a:solidFill>
                            <a:schemeClr val="tx1"/>
                          </a:solidFill>
                        </a:rPr>
                        <a:t>remote origin already exists</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git remote set-url origin &lt;URL&gt;</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150" b="1" dirty="0">
                          <a:solidFill>
                            <a:schemeClr val="tx1"/>
                          </a:solidFill>
                        </a:rPr>
                        <a:t>Σφάλμα branch</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git branch --show-current, μετά git branch -M main</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150" b="1" dirty="0">
                          <a:solidFill>
                            <a:schemeClr val="tx1"/>
                          </a:solidFill>
                        </a:rPr>
                        <a:t>Δεν υπάρχει βίντεο</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Νέο recording ή παράλειψη του GIF</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150" b="1" dirty="0">
                          <a:solidFill>
                            <a:schemeClr val="tx1"/>
                          </a:solidFill>
                        </a:rPr>
                        <a:t>Περίεργα αρχεία στο git status</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.venv, __pycache__ στο .gitignore, πριν το commit</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150" b="1" dirty="0">
                          <a:solidFill>
                            <a:schemeClr val="tx1"/>
                          </a:solidFill>
                        </a:rPr>
                        <a:t>Ανέβηκε κλειδί</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Ακύρωση στο AI Studio και νέο κλειδί</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150" b="1" dirty="0">
                          <a:solidFill>
                            <a:schemeClr val="tx1"/>
                          </a:solidFill>
                        </a:rPr>
                        <a:t>agy: command not found</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indent="0">
                        <a:buNone/>
                      </a:pPr>
                      <a:r>
                        <a:rPr lang="en-US" sz="1150" dirty="0">
                          <a:solidFill>
                            <a:schemeClr val="tx1"/>
                          </a:solidFill>
                        </a:rPr>
                        <a:t>Δεν είναι εγκατεστημένο ή δεν είναι στο PATH</a:t>
                      </a:r>
                      <a:endParaRPr lang="en-US" sz="1150" dirty="0"/>
                    </a:p>
                  </a:txBody>
                  <a:tcPr marL="54864" marR="54864" marT="54864" marB="5486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731520"/>
          </a:xfrm>
          <a:prstGeom prst="rect">
            <a:avLst/>
          </a:prstGeom>
          <a:noFill/>
          <a:ln/>
        </p:spPr>
        <p:txBody>
          <a:bodyPr wrap="square" lIns="0" tIns="0" rIns="0" bIns="0" rtlCol="0" anchor="ctr"/>
          <a:lstStyle/>
          <a:p>
            <a:pPr marL="0" indent="0">
              <a:buNone/>
            </a:pPr>
            <a:r>
              <a:rPr lang="en-US" sz="2600" b="1" dirty="0">
                <a:solidFill>
                  <a:schemeClr val="tx1"/>
                </a:solidFill>
              </a:rPr>
              <a:t>Checkpoint, Boss level, και μετά</a:t>
            </a:r>
            <a:endParaRPr lang="en-US" sz="2600" dirty="0"/>
          </a:p>
        </p:txBody>
      </p:sp>
      <p:sp>
        <p:nvSpPr>
          <p:cNvPr id="4" name="cp"/>
          <p:cNvSpPr/>
          <p:nvPr/>
        </p:nvSpPr>
        <p:spPr>
          <a:xfrm>
            <a:off x="457200" y="1188720"/>
            <a:ext cx="4023360" cy="2011680"/>
          </a:xfrm>
          <a:prstGeom prst="roundRect">
            <a:avLst>
              <a:gd name="adj" fmla="val 4545"/>
            </a:avLst>
          </a:prstGeom>
          <a:solidFill>
            <a:schemeClr val="accent3"/>
          </a:solidFill>
          <a:ln w="12700">
            <a:solidFill>
              <a:schemeClr val="tx1"/>
            </a:solidFill>
            <a:prstDash val="solid"/>
          </a:ln>
        </p:spPr>
        <p:txBody>
          <a:bodyPr/>
          <a:lstStyle/>
          <a:p>
            <a:endParaRPr lang="el-GR"/>
          </a:p>
        </p:txBody>
      </p:sp>
      <p:sp>
        <p:nvSpPr>
          <p:cNvPr id="5" name="cp text"/>
          <p:cNvSpPr txBox="1"/>
          <p:nvPr/>
        </p:nvSpPr>
        <p:spPr>
          <a:xfrm>
            <a:off x="594360" y="1280160"/>
            <a:ext cx="3749040" cy="1828800"/>
          </a:xfrm>
          <a:prstGeom prst="rect">
            <a:avLst/>
          </a:prstGeom>
          <a:noFill/>
          <a:ln/>
        </p:spPr>
        <p:txBody>
          <a:bodyPr wrap="square" lIns="0" tIns="0" rIns="0" bIns="0" rtlCol="0" anchor="t"/>
          <a:lstStyle/>
          <a:p>
            <a:pPr marL="0" indent="0">
              <a:buNone/>
            </a:pPr>
            <a:r>
              <a:rPr lang="en-US" sz="1500" b="1" dirty="0">
                <a:solidFill>
                  <a:schemeClr val="tx1"/>
                </a:solidFill>
              </a:rPr>
              <a:t>Checkpoint</a:t>
            </a:r>
            <a:endParaRPr lang="en-US" sz="1500" dirty="0"/>
          </a:p>
          <a:p>
            <a:pPr marL="0" indent="0">
              <a:buNone/>
            </a:pPr>
            <a:r>
              <a:rPr lang="en-US" sz="1400" dirty="0">
                <a:solidFill>
                  <a:schemeClr val="tx1"/>
                </a:solidFill>
              </a:rPr>
              <a:t>☐ Δημόσιο repo με README και GIF, ανοίγει από το κινητό</a:t>
            </a:r>
            <a:endParaRPr lang="en-US" sz="1500" dirty="0"/>
          </a:p>
          <a:p>
            <a:pPr marL="0" indent="0">
              <a:buNone/>
            </a:pPr>
            <a:r>
              <a:rPr lang="en-US" sz="1400" dirty="0">
                <a:solidFill>
                  <a:schemeClr val="tx1"/>
                </a:solidFill>
              </a:rPr>
              <a:t>☐ Κανένα κλειδί μέσα στο repo</a:t>
            </a:r>
            <a:endParaRPr lang="en-US" sz="1500" dirty="0"/>
          </a:p>
        </p:txBody>
      </p:sp>
      <p:sp>
        <p:nvSpPr>
          <p:cNvPr id="6" name="boss"/>
          <p:cNvSpPr/>
          <p:nvPr/>
        </p:nvSpPr>
        <p:spPr>
          <a:xfrm>
            <a:off x="4663440" y="1188720"/>
            <a:ext cx="4023360" cy="2011680"/>
          </a:xfrm>
          <a:prstGeom prst="roundRect">
            <a:avLst>
              <a:gd name="adj" fmla="val 4545"/>
            </a:avLst>
          </a:prstGeom>
          <a:solidFill>
            <a:schemeClr val="accent1"/>
          </a:solidFill>
          <a:ln w="12700">
            <a:solidFill>
              <a:schemeClr val="tx1"/>
            </a:solidFill>
            <a:prstDash val="solid"/>
          </a:ln>
        </p:spPr>
        <p:txBody>
          <a:bodyPr/>
          <a:lstStyle/>
          <a:p>
            <a:endParaRPr lang="el-GR"/>
          </a:p>
        </p:txBody>
      </p:sp>
      <p:sp>
        <p:nvSpPr>
          <p:cNvPr id="7" name="boss text"/>
          <p:cNvSpPr txBox="1"/>
          <p:nvPr/>
        </p:nvSpPr>
        <p:spPr>
          <a:xfrm>
            <a:off x="4800600" y="1280160"/>
            <a:ext cx="3749040" cy="1828800"/>
          </a:xfrm>
          <a:prstGeom prst="rect">
            <a:avLst/>
          </a:prstGeom>
          <a:noFill/>
          <a:ln/>
        </p:spPr>
        <p:txBody>
          <a:bodyPr wrap="square" lIns="0" tIns="0" rIns="0" bIns="0" rtlCol="0" anchor="t"/>
          <a:lstStyle/>
          <a:p>
            <a:pPr marL="0" indent="0">
              <a:buNone/>
            </a:pPr>
            <a:r>
              <a:rPr lang="en-US" sz="1500" b="1" dirty="0">
                <a:solidFill>
                  <a:schemeClr val="tx1"/>
                </a:solidFill>
              </a:rPr>
              <a:t>Boss level</a:t>
            </a:r>
            <a:endParaRPr lang="en-US" sz="1500" dirty="0"/>
          </a:p>
          <a:p>
            <a:pPr marL="0" indent="0">
              <a:buNone/>
            </a:pPr>
            <a:r>
              <a:rPr lang="en-US" sz="1400" dirty="0">
                <a:solidFill>
                  <a:schemeClr val="tx1"/>
                </a:solidFill>
              </a:rPr>
              <a:t>GitHub Actions που τρέχουν τα tests σε κάθε push, με badge στο README (δωρεάν για δημόσια repos).</a:t>
            </a:r>
            <a:endParaRPr lang="en-US" sz="1500" dirty="0"/>
          </a:p>
        </p:txBody>
      </p:sp>
      <p:sp>
        <p:nvSpPr>
          <p:cNvPr id="8" name="hw"/>
          <p:cNvSpPr/>
          <p:nvPr/>
        </p:nvSpPr>
        <p:spPr>
          <a:xfrm>
            <a:off x="457200" y="3383280"/>
            <a:ext cx="8229600" cy="1097280"/>
          </a:xfrm>
          <a:prstGeom prst="roundRect">
            <a:avLst>
              <a:gd name="adj" fmla="val 8333"/>
            </a:avLst>
          </a:prstGeom>
          <a:solidFill>
            <a:schemeClr val="accent2"/>
          </a:solidFill>
          <a:ln w="12700">
            <a:solidFill>
              <a:schemeClr val="tx1"/>
            </a:solidFill>
            <a:prstDash val="solid"/>
          </a:ln>
        </p:spPr>
        <p:txBody>
          <a:bodyPr/>
          <a:lstStyle/>
          <a:p>
            <a:endParaRPr lang="el-GR"/>
          </a:p>
        </p:txBody>
      </p:sp>
      <p:sp>
        <p:nvSpPr>
          <p:cNvPr id="9" name="hw text"/>
          <p:cNvSpPr txBox="1"/>
          <p:nvPr/>
        </p:nvSpPr>
        <p:spPr>
          <a:xfrm>
            <a:off x="594360" y="3474720"/>
            <a:ext cx="7955280" cy="914400"/>
          </a:xfrm>
          <a:prstGeom prst="rect">
            <a:avLst/>
          </a:prstGeom>
          <a:noFill/>
          <a:ln/>
        </p:spPr>
        <p:txBody>
          <a:bodyPr wrap="square" lIns="0" tIns="0" rIns="0" bIns="0" rtlCol="0" anchor="t"/>
          <a:lstStyle/>
          <a:p>
            <a:pPr marL="0" indent="0">
              <a:buNone/>
            </a:pPr>
            <a:r>
              <a:rPr lang="en-US" sz="1500" b="1" dirty="0">
                <a:solidFill>
                  <a:schemeClr val="tx1"/>
                </a:solidFill>
              </a:rPr>
              <a:t>Μετά το workshop</a:t>
            </a:r>
            <a:endParaRPr lang="en-US" sz="1500" dirty="0"/>
          </a:p>
          <a:p>
            <a:pPr marL="0" indent="0">
              <a:buNone/>
            </a:pPr>
            <a:r>
              <a:rPr lang="en-US" sz="1400" dirty="0">
                <a:solidFill>
                  <a:schemeClr val="tx1"/>
                </a:solidFill>
              </a:rPr>
              <a:t>1. Βάλε τα μαθήματα της εξεταστικής σου  2. Πρόσθεσε ένα δικό σου study mode  3. Link στο LinkedIn με #GDGOnCampus</a:t>
            </a:r>
            <a:endParaRPr lang="en-US" sz="15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F6368"/>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03591"/>
      </p:ext>
    </p:extLst>
  </p:cSld>
  <p:clrMapOvr>
    <a:masterClrMapping/>
  </p:clrMapOvr>
</p:sld>
</file>

<file path=ppt/theme/theme1.xml><?xml version="1.0" encoding="utf-8"?>
<a:theme xmlns:a="http://schemas.openxmlformats.org/drawingml/2006/main" name="GDG Ship it">
  <a:themeElements>
    <a:clrScheme name="GDG Ship it">
      <a:dk1>
        <a:srgbClr val="1E1E1E"/>
      </a:dk1>
      <a:lt1>
        <a:srgbClr val="FFFFFF"/>
      </a:lt1>
      <a:dk2>
        <a:srgbClr val="5F6368"/>
      </a:dk2>
      <a:lt2>
        <a:srgbClr val="F4F4EF"/>
      </a:lt2>
      <a:accent1>
        <a:srgbClr val="FFD427"/>
      </a:accent1>
      <a:accent2>
        <a:srgbClr val="C3ECF6"/>
      </a:accent2>
      <a:accent3>
        <a:srgbClr val="CCF6C5"/>
      </a:accent3>
      <a:accent4>
        <a:srgbClr val="F8D8D8"/>
      </a:accent4>
      <a:accent5>
        <a:srgbClr val="1A56DB"/>
      </a:accent5>
      <a:accent6>
        <a:srgbClr val="B42318"/>
      </a:accent6>
      <a:hlink>
        <a:srgbClr val="1A56DB"/>
      </a:hlink>
      <a:folHlink>
        <a:srgbClr val="5F6368"/>
      </a:folHlink>
    </a:clrScheme>
    <a:fontScheme name="GDG Ship i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3199</Words>
  <Application>Microsoft Office PowerPoint</Application>
  <PresentationFormat>Προβολή στην οθόνη (16:9)</PresentationFormat>
  <Paragraphs>211</Paragraphs>
  <Slides>12</Slides>
  <Notes>12</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12</vt:i4>
      </vt:variant>
    </vt:vector>
  </HeadingPairs>
  <TitlesOfParts>
    <vt:vector size="17" baseType="lpstr">
      <vt:lpstr>Aptos</vt:lpstr>
      <vt:lpstr>Arial</vt:lpstr>
      <vt:lpstr>Calibri</vt:lpstr>
      <vt:lpstr>Consolas</vt:lpstr>
      <vt:lpstr>GDG Ship it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Μέρος 6 · Ship it</dc:title>
  <dc:subject>PptxGenJS Presentation</dc:subject>
  <dc:creator>PptxGenJS</dc:creator>
  <cp:lastModifiedBy>Fenia Tzina</cp:lastModifiedBy>
  <cp:revision>10</cp:revision>
  <dcterms:created xsi:type="dcterms:W3CDTF">2026-10-15T15:56:44Z</dcterms:created>
  <dcterms:modified xsi:type="dcterms:W3CDTF">2026-10-15T16:50:26Z</dcterms:modified>
</cp:coreProperties>
</file>